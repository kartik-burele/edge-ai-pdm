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46" d="100"/>
          <a:sy n="46" d="100"/>
        </p:scale>
        <p:origin x="43" y="73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0" name="Google Shape;250;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r>
              <a:rPr lang="en-US"/>
              <a:t>/</a:t>
            </a:r>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oi.org/10.3390/s25010009"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engineering.case.edu/bearingdatacenter/download-data-file"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3" descr="A logo of a national institute of technology&#10;&#10;Description automatically generated"/>
          <p:cNvPicPr preferRelativeResize="0"/>
          <p:nvPr/>
        </p:nvPicPr>
        <p:blipFill rotWithShape="1">
          <a:blip r:embed="rId3">
            <a:alphaModFix/>
          </a:blip>
          <a:srcRect/>
          <a:stretch/>
        </p:blipFill>
        <p:spPr>
          <a:xfrm>
            <a:off x="1323825" y="375458"/>
            <a:ext cx="1026825" cy="1026825"/>
          </a:xfrm>
          <a:prstGeom prst="rect">
            <a:avLst/>
          </a:prstGeom>
          <a:noFill/>
          <a:ln>
            <a:noFill/>
          </a:ln>
        </p:spPr>
      </p:pic>
      <p:sp>
        <p:nvSpPr>
          <p:cNvPr id="89" name="Google Shape;89;p13"/>
          <p:cNvSpPr txBox="1"/>
          <p:nvPr/>
        </p:nvSpPr>
        <p:spPr>
          <a:xfrm>
            <a:off x="2653249" y="504151"/>
            <a:ext cx="6885502" cy="76944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i="0" u="none" strike="noStrike" cap="none">
                <a:solidFill>
                  <a:schemeClr val="dk1"/>
                </a:solidFill>
                <a:latin typeface="Calibri"/>
                <a:ea typeface="Calibri"/>
                <a:cs typeface="Calibri"/>
                <a:sym typeface="Calibri"/>
              </a:rPr>
              <a:t>Visvesvaraya National Institute of Technology, Nagpur</a:t>
            </a:r>
            <a:endParaRPr/>
          </a:p>
          <a:p>
            <a:pPr marL="0" marR="0" lvl="0" indent="0" algn="ctr" rtl="0">
              <a:spcBef>
                <a:spcPts val="0"/>
              </a:spcBef>
              <a:spcAft>
                <a:spcPts val="0"/>
              </a:spcAft>
              <a:buNone/>
            </a:pPr>
            <a:r>
              <a:rPr lang="en-US" sz="2000" b="1" i="0" u="none" strike="noStrike" cap="none">
                <a:solidFill>
                  <a:schemeClr val="dk1"/>
                </a:solidFill>
                <a:latin typeface="Calibri"/>
                <a:ea typeface="Calibri"/>
                <a:cs typeface="Calibri"/>
                <a:sym typeface="Calibri"/>
              </a:rPr>
              <a:t>Electronics and Communication Engineering Department</a:t>
            </a:r>
            <a:endParaRPr/>
          </a:p>
        </p:txBody>
      </p:sp>
      <p:cxnSp>
        <p:nvCxnSpPr>
          <p:cNvPr id="90" name="Google Shape;90;p13"/>
          <p:cNvCxnSpPr/>
          <p:nvPr/>
        </p:nvCxnSpPr>
        <p:spPr>
          <a:xfrm>
            <a:off x="408781" y="2466200"/>
            <a:ext cx="11047751" cy="0"/>
          </a:xfrm>
          <a:prstGeom prst="straightConnector1">
            <a:avLst/>
          </a:prstGeom>
          <a:noFill/>
          <a:ln w="9525" cap="flat" cmpd="sng">
            <a:solidFill>
              <a:schemeClr val="accent1"/>
            </a:solidFill>
            <a:prstDash val="solid"/>
            <a:miter lim="800000"/>
            <a:headEnd type="none" w="sm" len="sm"/>
            <a:tailEnd type="none" w="sm" len="sm"/>
          </a:ln>
        </p:spPr>
      </p:cxnSp>
      <p:sp>
        <p:nvSpPr>
          <p:cNvPr id="91" name="Google Shape;91;p13"/>
          <p:cNvSpPr txBox="1"/>
          <p:nvPr/>
        </p:nvSpPr>
        <p:spPr>
          <a:xfrm>
            <a:off x="1010935" y="2810598"/>
            <a:ext cx="10170155"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chemeClr val="dk1"/>
                </a:solidFill>
                <a:latin typeface="Calibri"/>
                <a:ea typeface="Calibri"/>
                <a:cs typeface="Calibri"/>
                <a:sym typeface="Calibri"/>
              </a:rPr>
              <a:t>Edge AI based Predictive Maintenance of Industrial Motors</a:t>
            </a:r>
            <a:endParaRPr sz="1800" b="1" i="0" u="none" strike="noStrike" cap="none">
              <a:solidFill>
                <a:schemeClr val="dk1"/>
              </a:solidFill>
              <a:latin typeface="Calibri"/>
              <a:ea typeface="Calibri"/>
              <a:cs typeface="Calibri"/>
              <a:sym typeface="Calibri"/>
            </a:endParaRPr>
          </a:p>
        </p:txBody>
      </p:sp>
      <p:sp>
        <p:nvSpPr>
          <p:cNvPr id="92" name="Google Shape;92;p13"/>
          <p:cNvSpPr txBox="1"/>
          <p:nvPr/>
        </p:nvSpPr>
        <p:spPr>
          <a:xfrm>
            <a:off x="2975307" y="3909576"/>
            <a:ext cx="6405984" cy="104644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a:solidFill>
                  <a:schemeClr val="dk1"/>
                </a:solidFill>
                <a:latin typeface="Calibri"/>
                <a:ea typeface="Calibri"/>
                <a:cs typeface="Calibri"/>
                <a:sym typeface="Calibri"/>
              </a:rPr>
              <a:t>Presented by</a:t>
            </a:r>
            <a:endParaRPr/>
          </a:p>
          <a:p>
            <a:pPr marL="0" marR="0" lvl="0" indent="0" algn="ctr" rtl="0">
              <a:spcBef>
                <a:spcPts val="0"/>
              </a:spcBef>
              <a:spcAft>
                <a:spcPts val="0"/>
              </a:spcAft>
              <a:buNone/>
            </a:pPr>
            <a:r>
              <a:rPr lang="en-US" sz="2400" b="1" i="0" u="none" strike="noStrike" cap="none">
                <a:solidFill>
                  <a:srgbClr val="002060"/>
                </a:solidFill>
                <a:latin typeface="Calibri"/>
                <a:ea typeface="Calibri"/>
                <a:cs typeface="Calibri"/>
                <a:sym typeface="Calibri"/>
              </a:rPr>
              <a:t>Kartik Burele (MT24AAC011)</a:t>
            </a:r>
            <a:endParaRPr/>
          </a:p>
          <a:p>
            <a:pPr marL="0" marR="0" lvl="0" indent="0" algn="ctr" rtl="0">
              <a:spcBef>
                <a:spcPts val="0"/>
              </a:spcBef>
              <a:spcAft>
                <a:spcPts val="0"/>
              </a:spcAft>
              <a:buNone/>
            </a:pPr>
            <a:r>
              <a:rPr lang="en-US" sz="2000" b="1" i="0" u="none" strike="noStrike" cap="none">
                <a:solidFill>
                  <a:schemeClr val="dk1"/>
                </a:solidFill>
                <a:latin typeface="Calibri"/>
                <a:ea typeface="Calibri"/>
                <a:cs typeface="Calibri"/>
                <a:sym typeface="Calibri"/>
              </a:rPr>
              <a:t>Embedded Software Engineer @ L &amp; T Technology Services</a:t>
            </a:r>
            <a:endParaRPr sz="1800" b="1" i="0" u="none" strike="noStrike" cap="none">
              <a:solidFill>
                <a:schemeClr val="dk1"/>
              </a:solidFill>
              <a:latin typeface="Calibri"/>
              <a:ea typeface="Calibri"/>
              <a:cs typeface="Calibri"/>
              <a:sym typeface="Calibri"/>
            </a:endParaRPr>
          </a:p>
        </p:txBody>
      </p:sp>
      <p:sp>
        <p:nvSpPr>
          <p:cNvPr id="93" name="Google Shape;93;p13"/>
          <p:cNvSpPr txBox="1"/>
          <p:nvPr/>
        </p:nvSpPr>
        <p:spPr>
          <a:xfrm>
            <a:off x="4849026" y="5400139"/>
            <a:ext cx="2658548" cy="141577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a:solidFill>
                  <a:schemeClr val="dk1"/>
                </a:solidFill>
                <a:latin typeface="Calibri"/>
                <a:ea typeface="Calibri"/>
                <a:cs typeface="Calibri"/>
                <a:sym typeface="Calibri"/>
              </a:rPr>
              <a:t>Under the supervision of</a:t>
            </a:r>
            <a:endParaRPr/>
          </a:p>
          <a:p>
            <a:pPr marL="0" marR="0" lvl="0" indent="0" algn="ctr" rtl="0">
              <a:spcBef>
                <a:spcPts val="0"/>
              </a:spcBef>
              <a:spcAft>
                <a:spcPts val="0"/>
              </a:spcAft>
              <a:buNone/>
            </a:pPr>
            <a:r>
              <a:rPr lang="en-US" sz="2400" b="1" i="0" u="none" strike="noStrike" cap="none">
                <a:solidFill>
                  <a:srgbClr val="002060"/>
                </a:solidFill>
                <a:latin typeface="Calibri"/>
                <a:ea typeface="Calibri"/>
                <a:cs typeface="Calibri"/>
                <a:sym typeface="Calibri"/>
              </a:rPr>
              <a:t>Dr. Mansi A. Radke </a:t>
            </a:r>
            <a:br>
              <a:rPr lang="en-US" sz="2400" b="1" i="0" u="none" strike="noStrike" cap="none">
                <a:solidFill>
                  <a:srgbClr val="002060"/>
                </a:solidFill>
                <a:latin typeface="Calibri"/>
                <a:ea typeface="Calibri"/>
                <a:cs typeface="Calibri"/>
                <a:sym typeface="Calibri"/>
              </a:rPr>
            </a:br>
            <a:r>
              <a:rPr lang="en-US" sz="1800" b="1" i="0" u="none" strike="noStrike" cap="none">
                <a:solidFill>
                  <a:srgbClr val="002060"/>
                </a:solidFill>
                <a:latin typeface="Calibri"/>
                <a:ea typeface="Calibri"/>
                <a:cs typeface="Calibri"/>
                <a:sym typeface="Calibri"/>
              </a:rPr>
              <a:t>Asst. Professor</a:t>
            </a:r>
            <a:endParaRPr/>
          </a:p>
          <a:p>
            <a:pPr marL="0" marR="0" lvl="0" indent="0" algn="ctr" rtl="0">
              <a:spcBef>
                <a:spcPts val="0"/>
              </a:spcBef>
              <a:spcAft>
                <a:spcPts val="0"/>
              </a:spcAft>
              <a:buNone/>
            </a:pPr>
            <a:r>
              <a:rPr lang="en-US" sz="2400" b="1" i="0" u="none" strike="noStrike" cap="none">
                <a:solidFill>
                  <a:schemeClr val="dk1"/>
                </a:solidFill>
                <a:latin typeface="Calibri"/>
                <a:ea typeface="Calibri"/>
                <a:cs typeface="Calibri"/>
                <a:sym typeface="Calibri"/>
              </a:rPr>
              <a:t>VNIT Nagpur</a:t>
            </a:r>
            <a:endParaRPr/>
          </a:p>
        </p:txBody>
      </p:sp>
      <p:sp>
        <p:nvSpPr>
          <p:cNvPr id="94" name="Google Shape;9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18-04-2026</a:t>
            </a:r>
            <a:endParaRPr/>
          </a:p>
        </p:txBody>
      </p:sp>
      <p:sp>
        <p:nvSpPr>
          <p:cNvPr id="95" name="Google Shape;9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96" name="Google Shape;96;p13"/>
          <p:cNvSpPr txBox="1"/>
          <p:nvPr/>
        </p:nvSpPr>
        <p:spPr>
          <a:xfrm>
            <a:off x="3048762" y="1450537"/>
            <a:ext cx="6094476"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sng" strike="noStrike" cap="none">
                <a:solidFill>
                  <a:schemeClr val="dk1"/>
                </a:solidFill>
                <a:latin typeface="Calibri"/>
                <a:ea typeface="Calibri"/>
                <a:cs typeface="Calibri"/>
                <a:sym typeface="Calibri"/>
              </a:rPr>
              <a:t>Executive M.Tech. in Applied AI and Communications</a:t>
            </a:r>
            <a:endParaRPr/>
          </a:p>
          <a:p>
            <a:pPr marL="0" marR="0" lvl="0" indent="0" algn="ctr" rtl="0">
              <a:spcBef>
                <a:spcPts val="0"/>
              </a:spcBef>
              <a:spcAft>
                <a:spcPts val="0"/>
              </a:spcAft>
              <a:buNone/>
            </a:pPr>
            <a:r>
              <a:rPr lang="en-US" sz="2000" b="1" i="0" u="sng" strike="noStrike" cap="none">
                <a:solidFill>
                  <a:schemeClr val="dk1"/>
                </a:solidFill>
                <a:latin typeface="Calibri"/>
                <a:ea typeface="Calibri"/>
                <a:cs typeface="Calibri"/>
                <a:sym typeface="Calibri"/>
              </a:rPr>
              <a:t>Cohort 3B sem. 3, Summer 2026</a:t>
            </a:r>
            <a:endParaRPr/>
          </a:p>
          <a:p>
            <a:pPr marL="0" marR="0" lvl="0" indent="0" algn="ctr" rtl="0">
              <a:spcBef>
                <a:spcPts val="0"/>
              </a:spcBef>
              <a:spcAft>
                <a:spcPts val="0"/>
              </a:spcAft>
              <a:buNone/>
            </a:pPr>
            <a:r>
              <a:rPr lang="en-US" sz="2000" b="1" i="0" u="sng" strike="noStrike" cap="none">
                <a:solidFill>
                  <a:schemeClr val="dk1"/>
                </a:solidFill>
                <a:latin typeface="Calibri"/>
                <a:ea typeface="Calibri"/>
                <a:cs typeface="Calibri"/>
                <a:sym typeface="Calibri"/>
              </a:rPr>
              <a:t>Eval. 2 (18/04/2026)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Table of Contents:</a:t>
            </a:r>
            <a:endParaRPr/>
          </a:p>
        </p:txBody>
      </p:sp>
      <p:sp>
        <p:nvSpPr>
          <p:cNvPr id="102" name="Google Shape;102;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en-US"/>
              <a:t>Introduction</a:t>
            </a:r>
            <a:endParaRPr/>
          </a:p>
          <a:p>
            <a:pPr marL="228600" lvl="0" indent="-228600" algn="l" rtl="0">
              <a:lnSpc>
                <a:spcPct val="90000"/>
              </a:lnSpc>
              <a:spcBef>
                <a:spcPts val="1000"/>
              </a:spcBef>
              <a:spcAft>
                <a:spcPts val="0"/>
              </a:spcAft>
              <a:buClr>
                <a:schemeClr val="dk1"/>
              </a:buClr>
              <a:buSzPct val="100000"/>
              <a:buChar char="•"/>
            </a:pPr>
            <a:r>
              <a:rPr lang="en-US"/>
              <a:t>Objective of the Project</a:t>
            </a:r>
            <a:endParaRPr/>
          </a:p>
          <a:p>
            <a:pPr marL="228600" lvl="0" indent="-228600" algn="l" rtl="0">
              <a:lnSpc>
                <a:spcPct val="90000"/>
              </a:lnSpc>
              <a:spcBef>
                <a:spcPts val="1000"/>
              </a:spcBef>
              <a:spcAft>
                <a:spcPts val="0"/>
              </a:spcAft>
              <a:buClr>
                <a:schemeClr val="dk1"/>
              </a:buClr>
              <a:buSzPct val="100000"/>
              <a:buChar char="•"/>
            </a:pPr>
            <a:r>
              <a:rPr lang="en-US"/>
              <a:t>Proposed Model</a:t>
            </a:r>
            <a:endParaRPr/>
          </a:p>
          <a:p>
            <a:pPr marL="228600" lvl="0" indent="-228600" algn="l" rtl="0">
              <a:lnSpc>
                <a:spcPct val="90000"/>
              </a:lnSpc>
              <a:spcBef>
                <a:spcPts val="1000"/>
              </a:spcBef>
              <a:spcAft>
                <a:spcPts val="0"/>
              </a:spcAft>
              <a:buClr>
                <a:schemeClr val="dk1"/>
              </a:buClr>
              <a:buSzPct val="100000"/>
              <a:buChar char="•"/>
            </a:pPr>
            <a:r>
              <a:rPr lang="en-US"/>
              <a:t>Methodology</a:t>
            </a:r>
            <a:endParaRPr/>
          </a:p>
          <a:p>
            <a:pPr marL="228600" lvl="0" indent="-228600" algn="l" rtl="0">
              <a:lnSpc>
                <a:spcPct val="90000"/>
              </a:lnSpc>
              <a:spcBef>
                <a:spcPts val="1000"/>
              </a:spcBef>
              <a:spcAft>
                <a:spcPts val="0"/>
              </a:spcAft>
              <a:buClr>
                <a:schemeClr val="dk1"/>
              </a:buClr>
              <a:buSzPct val="100000"/>
              <a:buChar char="•"/>
            </a:pPr>
            <a:r>
              <a:rPr lang="en-US"/>
              <a:t>Timeline of the Project</a:t>
            </a:r>
            <a:endParaRPr/>
          </a:p>
          <a:p>
            <a:pPr marL="228600" lvl="0" indent="-228600" algn="l" rtl="0">
              <a:lnSpc>
                <a:spcPct val="90000"/>
              </a:lnSpc>
              <a:spcBef>
                <a:spcPts val="1000"/>
              </a:spcBef>
              <a:spcAft>
                <a:spcPts val="0"/>
              </a:spcAft>
              <a:buClr>
                <a:schemeClr val="dk1"/>
              </a:buClr>
              <a:buSzPct val="100000"/>
              <a:buChar char="•"/>
            </a:pPr>
            <a:r>
              <a:rPr lang="en-US"/>
              <a:t>Literature Survey</a:t>
            </a:r>
            <a:endParaRPr/>
          </a:p>
          <a:p>
            <a:pPr marL="228600" lvl="0" indent="-228600" algn="l" rtl="0">
              <a:lnSpc>
                <a:spcPct val="90000"/>
              </a:lnSpc>
              <a:spcBef>
                <a:spcPts val="1000"/>
              </a:spcBef>
              <a:spcAft>
                <a:spcPts val="0"/>
              </a:spcAft>
              <a:buClr>
                <a:schemeClr val="dk1"/>
              </a:buClr>
              <a:buSzPct val="100000"/>
              <a:buChar char="•"/>
            </a:pPr>
            <a:r>
              <a:rPr lang="en-US"/>
              <a:t>Work Done</a:t>
            </a:r>
            <a:endParaRPr/>
          </a:p>
          <a:p>
            <a:pPr marL="228600" lvl="0" indent="-228600" algn="l" rtl="0">
              <a:lnSpc>
                <a:spcPct val="90000"/>
              </a:lnSpc>
              <a:spcBef>
                <a:spcPts val="1000"/>
              </a:spcBef>
              <a:spcAft>
                <a:spcPts val="0"/>
              </a:spcAft>
              <a:buClr>
                <a:schemeClr val="dk1"/>
              </a:buClr>
              <a:buSzPct val="100000"/>
              <a:buChar char="•"/>
            </a:pPr>
            <a:r>
              <a:rPr lang="en-US"/>
              <a:t>Results and Discussion</a:t>
            </a:r>
            <a:endParaRPr/>
          </a:p>
          <a:p>
            <a:pPr marL="228600" lvl="0" indent="-228600" algn="l" rtl="0">
              <a:lnSpc>
                <a:spcPct val="90000"/>
              </a:lnSpc>
              <a:spcBef>
                <a:spcPts val="1000"/>
              </a:spcBef>
              <a:spcAft>
                <a:spcPts val="0"/>
              </a:spcAft>
              <a:buClr>
                <a:schemeClr val="dk1"/>
              </a:buClr>
              <a:buSzPct val="100000"/>
              <a:buChar char="•"/>
            </a:pPr>
            <a:r>
              <a:rPr lang="en-US"/>
              <a:t>Conclusion</a:t>
            </a:r>
            <a:endParaRPr/>
          </a:p>
          <a:p>
            <a:pPr marL="228600" lvl="0" indent="-228600" algn="l" rtl="0">
              <a:lnSpc>
                <a:spcPct val="90000"/>
              </a:lnSpc>
              <a:spcBef>
                <a:spcPts val="1000"/>
              </a:spcBef>
              <a:spcAft>
                <a:spcPts val="0"/>
              </a:spcAft>
              <a:buClr>
                <a:schemeClr val="dk1"/>
              </a:buClr>
              <a:buSzPct val="100000"/>
              <a:buChar char="•"/>
            </a:pPr>
            <a:r>
              <a:rPr lang="en-US"/>
              <a:t>References</a:t>
            </a:r>
            <a:endParaRPr/>
          </a:p>
        </p:txBody>
      </p:sp>
      <p:sp>
        <p:nvSpPr>
          <p:cNvPr id="103" name="Google Shape;10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18-04-2026</a:t>
            </a:r>
            <a:endParaRPr/>
          </a:p>
        </p:txBody>
      </p:sp>
      <p:sp>
        <p:nvSpPr>
          <p:cNvPr id="104" name="Google Shape;10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Introduction</a:t>
            </a:r>
            <a:endParaRPr/>
          </a:p>
        </p:txBody>
      </p:sp>
      <p:sp>
        <p:nvSpPr>
          <p:cNvPr id="110" name="Google Shape;110;p15"/>
          <p:cNvSpPr txBox="1">
            <a:spLocks noGrp="1"/>
          </p:cNvSpPr>
          <p:nvPr>
            <p:ph type="body" idx="1"/>
          </p:nvPr>
        </p:nvSpPr>
        <p:spPr>
          <a:xfrm>
            <a:off x="838200" y="1341782"/>
            <a:ext cx="7560365" cy="5014567"/>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l" rtl="0">
              <a:lnSpc>
                <a:spcPct val="90000"/>
              </a:lnSpc>
              <a:spcBef>
                <a:spcPts val="0"/>
              </a:spcBef>
              <a:spcAft>
                <a:spcPts val="0"/>
              </a:spcAft>
              <a:buClr>
                <a:schemeClr val="dk1"/>
              </a:buClr>
              <a:buSzPct val="100000"/>
              <a:buChar char="•"/>
            </a:pPr>
            <a:r>
              <a:rPr lang="en-US" sz="1600" b="1" i="1" u="sng"/>
              <a:t>Overview</a:t>
            </a:r>
            <a:endParaRPr/>
          </a:p>
          <a:p>
            <a:pPr marL="0" lvl="0" indent="0" algn="l" rtl="0">
              <a:lnSpc>
                <a:spcPct val="90000"/>
              </a:lnSpc>
              <a:spcBef>
                <a:spcPts val="1000"/>
              </a:spcBef>
              <a:spcAft>
                <a:spcPts val="0"/>
              </a:spcAft>
              <a:buClr>
                <a:schemeClr val="dk1"/>
              </a:buClr>
              <a:buSzPct val="100000"/>
              <a:buNone/>
            </a:pPr>
            <a:r>
              <a:rPr lang="en-US" sz="1600"/>
              <a:t>Industrial motors are critical components in manufacturing systems. Unexpected failures can lead to:</a:t>
            </a:r>
            <a:endParaRPr/>
          </a:p>
          <a:p>
            <a:pPr marL="228600" lvl="0" indent="-228600" algn="l" rtl="0">
              <a:lnSpc>
                <a:spcPct val="90000"/>
              </a:lnSpc>
              <a:spcBef>
                <a:spcPts val="1000"/>
              </a:spcBef>
              <a:spcAft>
                <a:spcPts val="0"/>
              </a:spcAft>
              <a:buClr>
                <a:schemeClr val="dk1"/>
              </a:buClr>
              <a:buSzPct val="100000"/>
              <a:buChar char="•"/>
            </a:pPr>
            <a:r>
              <a:rPr lang="en-US" sz="1600"/>
              <a:t>Production downtime</a:t>
            </a:r>
            <a:endParaRPr/>
          </a:p>
          <a:p>
            <a:pPr marL="228600" lvl="0" indent="-228600" algn="l" rtl="0">
              <a:lnSpc>
                <a:spcPct val="90000"/>
              </a:lnSpc>
              <a:spcBef>
                <a:spcPts val="1000"/>
              </a:spcBef>
              <a:spcAft>
                <a:spcPts val="0"/>
              </a:spcAft>
              <a:buClr>
                <a:schemeClr val="dk1"/>
              </a:buClr>
              <a:buSzPct val="100000"/>
              <a:buChar char="•"/>
            </a:pPr>
            <a:r>
              <a:rPr lang="en-US" sz="1600"/>
              <a:t>Maintenance cost</a:t>
            </a:r>
            <a:endParaRPr/>
          </a:p>
          <a:p>
            <a:pPr marL="228600" lvl="0" indent="-228600" algn="l" rtl="0">
              <a:lnSpc>
                <a:spcPct val="90000"/>
              </a:lnSpc>
              <a:spcBef>
                <a:spcPts val="1000"/>
              </a:spcBef>
              <a:spcAft>
                <a:spcPts val="0"/>
              </a:spcAft>
              <a:buClr>
                <a:schemeClr val="dk1"/>
              </a:buClr>
              <a:buSzPct val="100000"/>
              <a:buChar char="•"/>
            </a:pPr>
            <a:r>
              <a:rPr lang="en-US" sz="1600"/>
              <a:t>Safety hazards</a:t>
            </a:r>
            <a:endParaRPr/>
          </a:p>
          <a:p>
            <a:pPr marL="0" lvl="0" indent="0" algn="l" rtl="0">
              <a:lnSpc>
                <a:spcPct val="90000"/>
              </a:lnSpc>
              <a:spcBef>
                <a:spcPts val="1000"/>
              </a:spcBef>
              <a:spcAft>
                <a:spcPts val="0"/>
              </a:spcAft>
              <a:buClr>
                <a:schemeClr val="dk1"/>
              </a:buClr>
              <a:buSzPct val="100000"/>
              <a:buNone/>
            </a:pPr>
            <a:r>
              <a:rPr lang="en-US" sz="1600"/>
              <a:t>Traditional maintenance strategies include:</a:t>
            </a:r>
            <a:endParaRPr/>
          </a:p>
          <a:p>
            <a:pPr marL="228600" lvl="0" indent="-228600" algn="l" rtl="0">
              <a:lnSpc>
                <a:spcPct val="90000"/>
              </a:lnSpc>
              <a:spcBef>
                <a:spcPts val="1000"/>
              </a:spcBef>
              <a:spcAft>
                <a:spcPts val="0"/>
              </a:spcAft>
              <a:buClr>
                <a:schemeClr val="dk1"/>
              </a:buClr>
              <a:buSzPct val="100000"/>
              <a:buChar char="•"/>
            </a:pPr>
            <a:r>
              <a:rPr lang="en-US" sz="1600"/>
              <a:t>Reactive maintenance (repair after failure)</a:t>
            </a:r>
            <a:endParaRPr/>
          </a:p>
          <a:p>
            <a:pPr marL="228600" lvl="0" indent="-228600" algn="l" rtl="0">
              <a:lnSpc>
                <a:spcPct val="90000"/>
              </a:lnSpc>
              <a:spcBef>
                <a:spcPts val="1000"/>
              </a:spcBef>
              <a:spcAft>
                <a:spcPts val="0"/>
              </a:spcAft>
              <a:buClr>
                <a:schemeClr val="dk1"/>
              </a:buClr>
              <a:buSzPct val="100000"/>
              <a:buChar char="•"/>
            </a:pPr>
            <a:r>
              <a:rPr lang="en-US" sz="1600"/>
              <a:t>Preventive maintenance (scheduled replacement)</a:t>
            </a:r>
            <a:endParaRPr/>
          </a:p>
          <a:p>
            <a:pPr marL="0" lvl="0" indent="0" algn="l" rtl="0">
              <a:lnSpc>
                <a:spcPct val="90000"/>
              </a:lnSpc>
              <a:spcBef>
                <a:spcPts val="1000"/>
              </a:spcBef>
              <a:spcAft>
                <a:spcPts val="0"/>
              </a:spcAft>
              <a:buClr>
                <a:schemeClr val="dk1"/>
              </a:buClr>
              <a:buSzPct val="100000"/>
              <a:buNone/>
            </a:pPr>
            <a:r>
              <a:rPr lang="en-US" sz="1600"/>
              <a:t>These methods are inefficient and often lead to unnecessary downtime.</a:t>
            </a:r>
            <a:endParaRPr/>
          </a:p>
          <a:p>
            <a:pPr marL="228600" lvl="0" indent="-228600" algn="l" rtl="0">
              <a:lnSpc>
                <a:spcPct val="90000"/>
              </a:lnSpc>
              <a:spcBef>
                <a:spcPts val="1000"/>
              </a:spcBef>
              <a:spcAft>
                <a:spcPts val="0"/>
              </a:spcAft>
              <a:buClr>
                <a:schemeClr val="dk1"/>
              </a:buClr>
              <a:buSzPct val="100000"/>
              <a:buChar char="•"/>
            </a:pPr>
            <a:r>
              <a:rPr lang="en-US" sz="1600" b="1" i="1" u="sng"/>
              <a:t>Motivation</a:t>
            </a:r>
            <a:endParaRPr/>
          </a:p>
          <a:p>
            <a:pPr marL="0" lvl="0" indent="0" algn="l" rtl="0">
              <a:lnSpc>
                <a:spcPct val="90000"/>
              </a:lnSpc>
              <a:spcBef>
                <a:spcPts val="1000"/>
              </a:spcBef>
              <a:spcAft>
                <a:spcPts val="0"/>
              </a:spcAft>
              <a:buClr>
                <a:schemeClr val="dk1"/>
              </a:buClr>
              <a:buSzPct val="100000"/>
              <a:buNone/>
            </a:pPr>
            <a:r>
              <a:rPr lang="en-US" sz="1600"/>
              <a:t>Predictive maintenance uses </a:t>
            </a:r>
            <a:r>
              <a:rPr lang="en-US" sz="1600" b="1"/>
              <a:t>sensor data and machine learning</a:t>
            </a:r>
            <a:r>
              <a:rPr lang="en-US" sz="1600"/>
              <a:t> to detect faults before failure occurs.</a:t>
            </a:r>
            <a:endParaRPr/>
          </a:p>
          <a:p>
            <a:pPr marL="0" lvl="0" indent="0" algn="l" rtl="0">
              <a:lnSpc>
                <a:spcPct val="90000"/>
              </a:lnSpc>
              <a:spcBef>
                <a:spcPts val="1000"/>
              </a:spcBef>
              <a:spcAft>
                <a:spcPts val="0"/>
              </a:spcAft>
              <a:buClr>
                <a:schemeClr val="dk1"/>
              </a:buClr>
              <a:buSzPct val="100000"/>
              <a:buNone/>
            </a:pPr>
            <a:r>
              <a:rPr lang="en-US" sz="1600"/>
              <a:t>Key benefits:</a:t>
            </a:r>
            <a:endParaRPr/>
          </a:p>
          <a:p>
            <a:pPr marL="228600" lvl="0" indent="-228600" algn="l" rtl="0">
              <a:lnSpc>
                <a:spcPct val="90000"/>
              </a:lnSpc>
              <a:spcBef>
                <a:spcPts val="1000"/>
              </a:spcBef>
              <a:spcAft>
                <a:spcPts val="0"/>
              </a:spcAft>
              <a:buClr>
                <a:schemeClr val="dk1"/>
              </a:buClr>
              <a:buSzPct val="100000"/>
              <a:buChar char="•"/>
            </a:pPr>
            <a:r>
              <a:rPr lang="en-US" sz="1600"/>
              <a:t>Reduced downtime</a:t>
            </a:r>
            <a:endParaRPr/>
          </a:p>
          <a:p>
            <a:pPr marL="228600" lvl="0" indent="-228600" algn="l" rtl="0">
              <a:lnSpc>
                <a:spcPct val="90000"/>
              </a:lnSpc>
              <a:spcBef>
                <a:spcPts val="1000"/>
              </a:spcBef>
              <a:spcAft>
                <a:spcPts val="0"/>
              </a:spcAft>
              <a:buClr>
                <a:schemeClr val="dk1"/>
              </a:buClr>
              <a:buSzPct val="100000"/>
              <a:buChar char="•"/>
            </a:pPr>
            <a:r>
              <a:rPr lang="en-US" sz="1600"/>
              <a:t>Lower maintenance cost</a:t>
            </a:r>
            <a:endParaRPr/>
          </a:p>
          <a:p>
            <a:pPr marL="228600" lvl="0" indent="-228600" algn="l" rtl="0">
              <a:lnSpc>
                <a:spcPct val="90000"/>
              </a:lnSpc>
              <a:spcBef>
                <a:spcPts val="1000"/>
              </a:spcBef>
              <a:spcAft>
                <a:spcPts val="0"/>
              </a:spcAft>
              <a:buClr>
                <a:schemeClr val="dk1"/>
              </a:buClr>
              <a:buSzPct val="100000"/>
              <a:buChar char="•"/>
            </a:pPr>
            <a:r>
              <a:rPr lang="en-US" sz="1600"/>
              <a:t>Increased equipment lifespan</a:t>
            </a:r>
            <a:endParaRPr/>
          </a:p>
          <a:p>
            <a:pPr marL="0" lvl="0" indent="0" algn="l" rtl="0">
              <a:lnSpc>
                <a:spcPct val="90000"/>
              </a:lnSpc>
              <a:spcBef>
                <a:spcPts val="1000"/>
              </a:spcBef>
              <a:spcAft>
                <a:spcPts val="0"/>
              </a:spcAft>
              <a:buClr>
                <a:schemeClr val="dk1"/>
              </a:buClr>
              <a:buSzPct val="100000"/>
              <a:buNone/>
            </a:pPr>
            <a:r>
              <a:rPr lang="en-US" sz="1600"/>
              <a:t>Edge AI enables </a:t>
            </a:r>
            <a:r>
              <a:rPr lang="en-US" sz="1600" b="1"/>
              <a:t>real-time monitoring directly on embedded devices</a:t>
            </a:r>
            <a:r>
              <a:rPr lang="en-US" sz="1600"/>
              <a:t>, eliminating the need for cloud processing.</a:t>
            </a:r>
            <a:endParaRPr/>
          </a:p>
          <a:p>
            <a:pPr marL="228600" lvl="0" indent="-142240" algn="l" rtl="0">
              <a:lnSpc>
                <a:spcPct val="90000"/>
              </a:lnSpc>
              <a:spcBef>
                <a:spcPts val="1000"/>
              </a:spcBef>
              <a:spcAft>
                <a:spcPts val="0"/>
              </a:spcAft>
              <a:buClr>
                <a:schemeClr val="dk1"/>
              </a:buClr>
              <a:buSzPct val="100000"/>
              <a:buNone/>
            </a:pPr>
            <a:endParaRPr sz="1600"/>
          </a:p>
          <a:p>
            <a:pPr marL="228600" lvl="0" indent="-142240" algn="l" rtl="0">
              <a:lnSpc>
                <a:spcPct val="90000"/>
              </a:lnSpc>
              <a:spcBef>
                <a:spcPts val="1000"/>
              </a:spcBef>
              <a:spcAft>
                <a:spcPts val="0"/>
              </a:spcAft>
              <a:buClr>
                <a:schemeClr val="dk1"/>
              </a:buClr>
              <a:buSzPct val="100000"/>
              <a:buNone/>
            </a:pPr>
            <a:endParaRPr sz="1600"/>
          </a:p>
        </p:txBody>
      </p:sp>
      <p:sp>
        <p:nvSpPr>
          <p:cNvPr id="111" name="Google Shape;111;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18-04-2026</a:t>
            </a:r>
            <a:endParaRPr/>
          </a:p>
        </p:txBody>
      </p:sp>
      <p:sp>
        <p:nvSpPr>
          <p:cNvPr id="112" name="Google Shape;11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113" name="Google Shape;113;p15"/>
          <p:cNvSpPr/>
          <p:nvPr/>
        </p:nvSpPr>
        <p:spPr>
          <a:xfrm>
            <a:off x="8610600" y="1776630"/>
            <a:ext cx="3197087" cy="3304739"/>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600" b="1" i="1" u="sng" strike="noStrike" cap="none">
                <a:solidFill>
                  <a:schemeClr val="dk1"/>
                </a:solidFill>
                <a:latin typeface="Calibri"/>
                <a:ea typeface="Calibri"/>
                <a:cs typeface="Calibri"/>
                <a:sym typeface="Calibri"/>
              </a:rPr>
              <a:t>Research Gap</a:t>
            </a:r>
            <a:endParaRPr/>
          </a:p>
          <a:p>
            <a:pPr marL="0" marR="0" lvl="0" indent="0" algn="l" rtl="0">
              <a:spcBef>
                <a:spcPts val="0"/>
              </a:spcBef>
              <a:spcAft>
                <a:spcPts val="0"/>
              </a:spcAft>
              <a:buNone/>
            </a:pPr>
            <a:r>
              <a:rPr lang="en-US" sz="1600">
                <a:solidFill>
                  <a:schemeClr val="lt1"/>
                </a:solidFill>
                <a:latin typeface="Calibri"/>
                <a:ea typeface="Calibri"/>
                <a:cs typeface="Calibri"/>
                <a:sym typeface="Calibri"/>
              </a:rPr>
              <a:t>Many existing systems rely on:</a:t>
            </a:r>
            <a:endParaRPr/>
          </a:p>
          <a:p>
            <a:pPr marL="285750" marR="0" lvl="0" indent="-285750" algn="l" rtl="0">
              <a:spcBef>
                <a:spcPts val="0"/>
              </a:spcBef>
              <a:spcAft>
                <a:spcPts val="0"/>
              </a:spcAft>
              <a:buClr>
                <a:schemeClr val="lt1"/>
              </a:buClr>
              <a:buSzPts val="1600"/>
              <a:buFont typeface="Arial"/>
              <a:buChar char="•"/>
            </a:pPr>
            <a:r>
              <a:rPr lang="en-US" sz="1600">
                <a:solidFill>
                  <a:schemeClr val="lt1"/>
                </a:solidFill>
                <a:latin typeface="Calibri"/>
                <a:ea typeface="Calibri"/>
                <a:cs typeface="Calibri"/>
                <a:sym typeface="Calibri"/>
              </a:rPr>
              <a:t>Cloud processing</a:t>
            </a:r>
            <a:endParaRPr/>
          </a:p>
          <a:p>
            <a:pPr marL="285750" marR="0" lvl="0" indent="-285750" algn="l" rtl="0">
              <a:spcBef>
                <a:spcPts val="0"/>
              </a:spcBef>
              <a:spcAft>
                <a:spcPts val="0"/>
              </a:spcAft>
              <a:buClr>
                <a:schemeClr val="lt1"/>
              </a:buClr>
              <a:buSzPts val="1600"/>
              <a:buFont typeface="Arial"/>
              <a:buChar char="•"/>
            </a:pPr>
            <a:r>
              <a:rPr lang="en-US" sz="1600">
                <a:solidFill>
                  <a:schemeClr val="lt1"/>
                </a:solidFill>
                <a:latin typeface="Calibri"/>
                <a:ea typeface="Calibri"/>
                <a:cs typeface="Calibri"/>
                <a:sym typeface="Calibri"/>
              </a:rPr>
              <a:t>High-cost industrial monitoring systems</a:t>
            </a:r>
            <a:endParaRPr/>
          </a:p>
          <a:p>
            <a:pPr marL="285750" marR="0" lvl="0" indent="-184150" algn="l" rtl="0">
              <a:spcBef>
                <a:spcPts val="0"/>
              </a:spcBef>
              <a:spcAft>
                <a:spcPts val="0"/>
              </a:spcAft>
              <a:buClr>
                <a:schemeClr val="dk1"/>
              </a:buClr>
              <a:buSzPts val="1600"/>
              <a:buFont typeface="Arial"/>
              <a:buNone/>
            </a:pPr>
            <a:endParaRPr sz="1600">
              <a:solidFill>
                <a:schemeClr val="lt1"/>
              </a:solidFill>
              <a:latin typeface="Calibri"/>
              <a:ea typeface="Calibri"/>
              <a:cs typeface="Calibri"/>
              <a:sym typeface="Calibri"/>
            </a:endParaRPr>
          </a:p>
          <a:p>
            <a:pPr marL="0" marR="0" lvl="0" indent="0" algn="l" rtl="0">
              <a:spcBef>
                <a:spcPts val="0"/>
              </a:spcBef>
              <a:spcAft>
                <a:spcPts val="0"/>
              </a:spcAft>
              <a:buNone/>
            </a:pPr>
            <a:r>
              <a:rPr lang="en-US" sz="1600">
                <a:solidFill>
                  <a:schemeClr val="lt1"/>
                </a:solidFill>
                <a:latin typeface="Calibri"/>
                <a:ea typeface="Calibri"/>
                <a:cs typeface="Calibri"/>
                <a:sym typeface="Calibri"/>
              </a:rPr>
              <a:t>There is a need for:</a:t>
            </a:r>
            <a:endParaRPr/>
          </a:p>
          <a:p>
            <a:pPr marL="285750" marR="0" lvl="0" indent="-285750" algn="l" rtl="0">
              <a:spcBef>
                <a:spcPts val="0"/>
              </a:spcBef>
              <a:spcAft>
                <a:spcPts val="0"/>
              </a:spcAft>
              <a:buClr>
                <a:schemeClr val="lt1"/>
              </a:buClr>
              <a:buSzPts val="1600"/>
              <a:buFont typeface="Arial"/>
              <a:buChar char="•"/>
            </a:pPr>
            <a:r>
              <a:rPr lang="en-US" sz="1600">
                <a:solidFill>
                  <a:schemeClr val="lt1"/>
                </a:solidFill>
                <a:latin typeface="Calibri"/>
                <a:ea typeface="Calibri"/>
                <a:cs typeface="Calibri"/>
                <a:sym typeface="Calibri"/>
              </a:rPr>
              <a:t>Low-cost embedded AI solutions</a:t>
            </a:r>
            <a:endParaRPr/>
          </a:p>
          <a:p>
            <a:pPr marL="285750" marR="0" lvl="0" indent="-285750" algn="l" rtl="0">
              <a:spcBef>
                <a:spcPts val="0"/>
              </a:spcBef>
              <a:spcAft>
                <a:spcPts val="0"/>
              </a:spcAft>
              <a:buClr>
                <a:schemeClr val="lt1"/>
              </a:buClr>
              <a:buSzPts val="1600"/>
              <a:buFont typeface="Arial"/>
              <a:buChar char="•"/>
            </a:pPr>
            <a:r>
              <a:rPr lang="en-US" sz="1600">
                <a:solidFill>
                  <a:schemeClr val="lt1"/>
                </a:solidFill>
                <a:latin typeface="Calibri"/>
                <a:ea typeface="Calibri"/>
                <a:cs typeface="Calibri"/>
                <a:sym typeface="Calibri"/>
              </a:rPr>
              <a:t>Real-time fault detection at the edge</a:t>
            </a:r>
            <a:endParaRPr/>
          </a:p>
          <a:p>
            <a:pPr marL="0" marR="0" lvl="0" indent="0" algn="l" rtl="0">
              <a:spcBef>
                <a:spcPts val="0"/>
              </a:spcBef>
              <a:spcAft>
                <a:spcPts val="0"/>
              </a:spcAft>
              <a:buNone/>
            </a:pPr>
            <a:endParaRPr sz="1600">
              <a:solidFill>
                <a:schemeClr val="lt1"/>
              </a:solidFill>
              <a:latin typeface="Calibri"/>
              <a:ea typeface="Calibri"/>
              <a:cs typeface="Calibri"/>
              <a:sym typeface="Calibri"/>
            </a:endParaRPr>
          </a:p>
          <a:p>
            <a:pPr marL="0" marR="0" lvl="0" indent="0" algn="ctr" rtl="0">
              <a:spcBef>
                <a:spcPts val="0"/>
              </a:spcBef>
              <a:spcAft>
                <a:spcPts val="0"/>
              </a:spcAft>
              <a:buNone/>
            </a:pPr>
            <a:endParaRPr sz="16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Objective of the Project</a:t>
            </a:r>
            <a:endParaRPr/>
          </a:p>
        </p:txBody>
      </p:sp>
      <p:sp>
        <p:nvSpPr>
          <p:cNvPr id="119" name="Google Shape;119;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ct val="100000"/>
              <a:buChar char="•"/>
            </a:pPr>
            <a:r>
              <a:rPr lang="en-US"/>
              <a:t>The primary objective of this project is to develop an </a:t>
            </a:r>
            <a:r>
              <a:rPr lang="en-US" b="1"/>
              <a:t>Edge AI based predictive maintenance system for industrial motors</a:t>
            </a:r>
            <a:r>
              <a:rPr lang="en-US"/>
              <a:t>.</a:t>
            </a:r>
            <a:endParaRPr/>
          </a:p>
          <a:p>
            <a:pPr marL="0" lvl="0" indent="0" algn="l" rtl="0">
              <a:lnSpc>
                <a:spcPct val="90000"/>
              </a:lnSpc>
              <a:spcBef>
                <a:spcPts val="1000"/>
              </a:spcBef>
              <a:spcAft>
                <a:spcPts val="0"/>
              </a:spcAft>
              <a:buClr>
                <a:schemeClr val="dk1"/>
              </a:buClr>
              <a:buSzPct val="100000"/>
              <a:buNone/>
            </a:pPr>
            <a:r>
              <a:rPr lang="en-US" b="1" i="1" u="sng"/>
              <a:t>Specific Objectives:</a:t>
            </a:r>
            <a:endParaRPr/>
          </a:p>
          <a:p>
            <a:pPr marL="228600" lvl="0" indent="-228600" algn="l" rtl="0">
              <a:lnSpc>
                <a:spcPct val="90000"/>
              </a:lnSpc>
              <a:spcBef>
                <a:spcPts val="1000"/>
              </a:spcBef>
              <a:spcAft>
                <a:spcPts val="0"/>
              </a:spcAft>
              <a:buClr>
                <a:schemeClr val="dk1"/>
              </a:buClr>
              <a:buSzPct val="100000"/>
              <a:buChar char="•"/>
            </a:pPr>
            <a:r>
              <a:rPr lang="en-US"/>
              <a:t>Collect vibration and temperature data from industrial motors using sensors</a:t>
            </a:r>
            <a:endParaRPr/>
          </a:p>
          <a:p>
            <a:pPr marL="228600" lvl="0" indent="-228600" algn="l" rtl="0">
              <a:lnSpc>
                <a:spcPct val="90000"/>
              </a:lnSpc>
              <a:spcBef>
                <a:spcPts val="1000"/>
              </a:spcBef>
              <a:spcAft>
                <a:spcPts val="0"/>
              </a:spcAft>
              <a:buClr>
                <a:schemeClr val="dk1"/>
              </a:buClr>
              <a:buSzPct val="100000"/>
              <a:buChar char="•"/>
            </a:pPr>
            <a:r>
              <a:rPr lang="en-US"/>
              <a:t>Develop a machine learning model to classify motor operating conditions</a:t>
            </a:r>
            <a:endParaRPr/>
          </a:p>
          <a:p>
            <a:pPr marL="228600" lvl="0" indent="-228600" algn="l" rtl="0">
              <a:lnSpc>
                <a:spcPct val="90000"/>
              </a:lnSpc>
              <a:spcBef>
                <a:spcPts val="1000"/>
              </a:spcBef>
              <a:spcAft>
                <a:spcPts val="0"/>
              </a:spcAft>
              <a:buClr>
                <a:schemeClr val="dk1"/>
              </a:buClr>
              <a:buSzPct val="100000"/>
              <a:buChar char="•"/>
            </a:pPr>
            <a:r>
              <a:rPr lang="en-US"/>
              <a:t>Deploy the trained model on an embedded device for real-time monitoring</a:t>
            </a:r>
            <a:endParaRPr/>
          </a:p>
          <a:p>
            <a:pPr marL="228600" lvl="0" indent="-228600" algn="l" rtl="0">
              <a:lnSpc>
                <a:spcPct val="90000"/>
              </a:lnSpc>
              <a:spcBef>
                <a:spcPts val="1000"/>
              </a:spcBef>
              <a:spcAft>
                <a:spcPts val="0"/>
              </a:spcAft>
              <a:buClr>
                <a:schemeClr val="dk1"/>
              </a:buClr>
              <a:buSzPct val="100000"/>
              <a:buChar char="•"/>
            </a:pPr>
            <a:r>
              <a:rPr lang="en-US"/>
              <a:t>Detect faults such as imbalance, misalignment, and bearing faults</a:t>
            </a:r>
            <a:endParaRPr/>
          </a:p>
          <a:p>
            <a:pPr marL="228600" lvl="0" indent="-228600" algn="l" rtl="0">
              <a:lnSpc>
                <a:spcPct val="90000"/>
              </a:lnSpc>
              <a:spcBef>
                <a:spcPts val="1000"/>
              </a:spcBef>
              <a:spcAft>
                <a:spcPts val="0"/>
              </a:spcAft>
              <a:buClr>
                <a:schemeClr val="dk1"/>
              </a:buClr>
              <a:buSzPct val="100000"/>
              <a:buChar char="•"/>
            </a:pPr>
            <a:r>
              <a:rPr lang="en-US"/>
              <a:t>Reduce equipment downtime through early fault detection</a:t>
            </a:r>
            <a:endParaRPr/>
          </a:p>
        </p:txBody>
      </p:sp>
      <p:sp>
        <p:nvSpPr>
          <p:cNvPr id="120" name="Google Shape;120;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18-04-2026</a:t>
            </a:r>
            <a:endParaRPr/>
          </a:p>
        </p:txBody>
      </p:sp>
      <p:sp>
        <p:nvSpPr>
          <p:cNvPr id="121" name="Google Shape;121;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7"/>
          <p:cNvSpPr txBox="1">
            <a:spLocks noGrp="1"/>
          </p:cNvSpPr>
          <p:nvPr>
            <p:ph type="title"/>
          </p:nvPr>
        </p:nvSpPr>
        <p:spPr>
          <a:xfrm>
            <a:off x="122582" y="19823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Proposed Model</a:t>
            </a:r>
            <a:endParaRPr/>
          </a:p>
        </p:txBody>
      </p:sp>
      <p:sp>
        <p:nvSpPr>
          <p:cNvPr id="127" name="Google Shape;12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18-04-2026</a:t>
            </a:r>
            <a:endParaRPr/>
          </a:p>
        </p:txBody>
      </p:sp>
      <p:sp>
        <p:nvSpPr>
          <p:cNvPr id="128" name="Google Shape;12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grpSp>
        <p:nvGrpSpPr>
          <p:cNvPr id="129" name="Google Shape;129;p17"/>
          <p:cNvGrpSpPr/>
          <p:nvPr/>
        </p:nvGrpSpPr>
        <p:grpSpPr>
          <a:xfrm>
            <a:off x="4025349" y="520493"/>
            <a:ext cx="7663068" cy="5817014"/>
            <a:chOff x="861390" y="1357556"/>
            <a:chExt cx="7229061" cy="5058892"/>
          </a:xfrm>
        </p:grpSpPr>
        <p:pic>
          <p:nvPicPr>
            <p:cNvPr id="130" name="Google Shape;130;p17"/>
            <p:cNvPicPr preferRelativeResize="0"/>
            <p:nvPr/>
          </p:nvPicPr>
          <p:blipFill rotWithShape="1">
            <a:blip r:embed="rId3">
              <a:alphaModFix/>
            </a:blip>
            <a:srcRect/>
            <a:stretch/>
          </p:blipFill>
          <p:spPr>
            <a:xfrm>
              <a:off x="861390" y="1357556"/>
              <a:ext cx="7229061" cy="5058892"/>
            </a:xfrm>
            <a:prstGeom prst="rect">
              <a:avLst/>
            </a:prstGeom>
            <a:noFill/>
            <a:ln>
              <a:noFill/>
            </a:ln>
          </p:spPr>
        </p:pic>
        <p:pic>
          <p:nvPicPr>
            <p:cNvPr id="131" name="Google Shape;131;p17"/>
            <p:cNvPicPr preferRelativeResize="0"/>
            <p:nvPr/>
          </p:nvPicPr>
          <p:blipFill rotWithShape="1">
            <a:blip r:embed="rId4">
              <a:alphaModFix/>
            </a:blip>
            <a:srcRect/>
            <a:stretch/>
          </p:blipFill>
          <p:spPr>
            <a:xfrm>
              <a:off x="1902772" y="1841083"/>
              <a:ext cx="994409" cy="626167"/>
            </a:xfrm>
            <a:prstGeom prst="rect">
              <a:avLst/>
            </a:prstGeom>
            <a:noFill/>
            <a:ln>
              <a:noFill/>
            </a:ln>
          </p:spPr>
        </p:pic>
        <p:pic>
          <p:nvPicPr>
            <p:cNvPr id="132" name="Google Shape;132;p17"/>
            <p:cNvPicPr preferRelativeResize="0"/>
            <p:nvPr/>
          </p:nvPicPr>
          <p:blipFill rotWithShape="1">
            <a:blip r:embed="rId5">
              <a:alphaModFix/>
            </a:blip>
            <a:srcRect/>
            <a:stretch/>
          </p:blipFill>
          <p:spPr>
            <a:xfrm>
              <a:off x="1881196" y="3568751"/>
              <a:ext cx="555988" cy="555988"/>
            </a:xfrm>
            <a:prstGeom prst="rect">
              <a:avLst/>
            </a:prstGeom>
            <a:noFill/>
            <a:ln>
              <a:noFill/>
            </a:ln>
          </p:spPr>
        </p:pic>
        <p:pic>
          <p:nvPicPr>
            <p:cNvPr id="133" name="Google Shape;133;p17"/>
            <p:cNvPicPr preferRelativeResize="0"/>
            <p:nvPr/>
          </p:nvPicPr>
          <p:blipFill rotWithShape="1">
            <a:blip r:embed="rId6">
              <a:alphaModFix/>
            </a:blip>
            <a:srcRect/>
            <a:stretch/>
          </p:blipFill>
          <p:spPr>
            <a:xfrm>
              <a:off x="4572588" y="2802835"/>
              <a:ext cx="392760" cy="325200"/>
            </a:xfrm>
            <a:prstGeom prst="rect">
              <a:avLst/>
            </a:prstGeom>
            <a:noFill/>
            <a:ln>
              <a:noFill/>
            </a:ln>
          </p:spPr>
        </p:pic>
        <p:pic>
          <p:nvPicPr>
            <p:cNvPr id="134" name="Google Shape;134;p17"/>
            <p:cNvPicPr preferRelativeResize="0"/>
            <p:nvPr/>
          </p:nvPicPr>
          <p:blipFill rotWithShape="1">
            <a:blip r:embed="rId7">
              <a:alphaModFix/>
            </a:blip>
            <a:srcRect/>
            <a:stretch/>
          </p:blipFill>
          <p:spPr>
            <a:xfrm>
              <a:off x="1789042" y="3048590"/>
              <a:ext cx="648141" cy="405088"/>
            </a:xfrm>
            <a:prstGeom prst="rect">
              <a:avLst/>
            </a:prstGeom>
            <a:noFill/>
            <a:ln>
              <a:noFill/>
            </a:ln>
          </p:spPr>
        </p:pic>
        <p:pic>
          <p:nvPicPr>
            <p:cNvPr id="135" name="Google Shape;135;p17"/>
            <p:cNvPicPr preferRelativeResize="0"/>
            <p:nvPr/>
          </p:nvPicPr>
          <p:blipFill rotWithShape="1">
            <a:blip r:embed="rId8">
              <a:alphaModFix/>
            </a:blip>
            <a:srcRect/>
            <a:stretch/>
          </p:blipFill>
          <p:spPr>
            <a:xfrm>
              <a:off x="4988538" y="2642127"/>
              <a:ext cx="532812" cy="532812"/>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Methodology</a:t>
            </a:r>
            <a:endParaRPr/>
          </a:p>
        </p:txBody>
      </p:sp>
      <p:sp>
        <p:nvSpPr>
          <p:cNvPr id="141" name="Google Shape;14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18-04-2026</a:t>
            </a:r>
            <a:endParaRPr/>
          </a:p>
        </p:txBody>
      </p:sp>
      <p:sp>
        <p:nvSpPr>
          <p:cNvPr id="142" name="Google Shape;142;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143" name="Google Shape;143;p18"/>
          <p:cNvSpPr/>
          <p:nvPr/>
        </p:nvSpPr>
        <p:spPr>
          <a:xfrm>
            <a:off x="139150" y="2254354"/>
            <a:ext cx="2334039" cy="3955774"/>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 Data Acquisition</a:t>
            </a:r>
            <a:endParaRPr/>
          </a:p>
          <a:p>
            <a:pPr marL="0" marR="0" lvl="0" indent="0" algn="ctr" rtl="0">
              <a:spcBef>
                <a:spcPts val="0"/>
              </a:spcBef>
              <a:spcAft>
                <a:spcPts val="0"/>
              </a:spcAft>
              <a:buNone/>
            </a:pPr>
            <a:endParaRPr sz="18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i="1" u="sng">
                <a:solidFill>
                  <a:schemeClr val="lt1"/>
                </a:solidFill>
                <a:latin typeface="Calibri"/>
                <a:ea typeface="Calibri"/>
                <a:cs typeface="Calibri"/>
                <a:sym typeface="Calibri"/>
              </a:rPr>
              <a:t>Sensor data will be collected from industrial motors using:</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Vibration sensors</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Temperature sensors</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The signals represent motor operating conditions.</a:t>
            </a:r>
            <a:endParaRPr sz="1400">
              <a:solidFill>
                <a:schemeClr val="lt1"/>
              </a:solidFill>
              <a:latin typeface="Calibri"/>
              <a:ea typeface="Calibri"/>
              <a:cs typeface="Calibri"/>
              <a:sym typeface="Calibri"/>
            </a:endParaRPr>
          </a:p>
        </p:txBody>
      </p:sp>
      <p:sp>
        <p:nvSpPr>
          <p:cNvPr id="144" name="Google Shape;144;p18"/>
          <p:cNvSpPr txBox="1"/>
          <p:nvPr/>
        </p:nvSpPr>
        <p:spPr>
          <a:xfrm>
            <a:off x="509379" y="1608022"/>
            <a:ext cx="6867939"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The project methodology consists of five major stages.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5" name="Google Shape;145;p18"/>
          <p:cNvSpPr/>
          <p:nvPr/>
        </p:nvSpPr>
        <p:spPr>
          <a:xfrm>
            <a:off x="2686879" y="2254354"/>
            <a:ext cx="2334039" cy="3955774"/>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Data Preprocessing</a:t>
            </a:r>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a:p>
            <a:pPr marL="0" marR="0" lvl="0" indent="0" algn="ctr" rtl="0">
              <a:spcBef>
                <a:spcPts val="0"/>
              </a:spcBef>
              <a:spcAft>
                <a:spcPts val="0"/>
              </a:spcAft>
              <a:buNone/>
            </a:pPr>
            <a:r>
              <a:rPr lang="en-US" sz="1400" i="1" u="sng">
                <a:solidFill>
                  <a:schemeClr val="lt1"/>
                </a:solidFill>
                <a:latin typeface="Calibri"/>
                <a:ea typeface="Calibri"/>
                <a:cs typeface="Calibri"/>
                <a:sym typeface="Calibri"/>
              </a:rPr>
              <a:t>Raw signals will undergo:</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Noise filtering</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Fast Fourier Transform (FFT)</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Feature extraction</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i="1" u="sng">
                <a:solidFill>
                  <a:schemeClr val="lt1"/>
                </a:solidFill>
                <a:latin typeface="Calibri"/>
                <a:ea typeface="Calibri"/>
                <a:cs typeface="Calibri"/>
                <a:sym typeface="Calibri"/>
              </a:rPr>
              <a:t>Features include:</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RMS vibration</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Kurtosis</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Spectral entropy</a:t>
            </a:r>
            <a:endParaRPr sz="1400">
              <a:solidFill>
                <a:schemeClr val="lt1"/>
              </a:solidFill>
              <a:latin typeface="Calibri"/>
              <a:ea typeface="Calibri"/>
              <a:cs typeface="Calibri"/>
              <a:sym typeface="Calibri"/>
            </a:endParaRPr>
          </a:p>
        </p:txBody>
      </p:sp>
      <p:sp>
        <p:nvSpPr>
          <p:cNvPr id="146" name="Google Shape;146;p18"/>
          <p:cNvSpPr/>
          <p:nvPr/>
        </p:nvSpPr>
        <p:spPr>
          <a:xfrm>
            <a:off x="5234609" y="2254354"/>
            <a:ext cx="2334039" cy="3955774"/>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Model Training</a:t>
            </a:r>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a:p>
            <a:pPr marL="0" marR="0" lvl="0" indent="0" algn="ctr" rtl="0">
              <a:spcBef>
                <a:spcPts val="0"/>
              </a:spcBef>
              <a:spcAft>
                <a:spcPts val="0"/>
              </a:spcAft>
              <a:buNone/>
            </a:pPr>
            <a:r>
              <a:rPr lang="en-US" sz="1400" i="1" u="sng">
                <a:solidFill>
                  <a:schemeClr val="lt1"/>
                </a:solidFill>
                <a:latin typeface="Calibri"/>
                <a:ea typeface="Calibri"/>
                <a:cs typeface="Calibri"/>
                <a:sym typeface="Calibri"/>
              </a:rPr>
              <a:t>Machine learning models will be trained using Python libraries such as:</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Scikit-learn</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TensorFlow</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i="1" u="sng">
                <a:solidFill>
                  <a:schemeClr val="lt1"/>
                </a:solidFill>
                <a:latin typeface="Calibri"/>
                <a:ea typeface="Calibri"/>
                <a:cs typeface="Calibri"/>
                <a:sym typeface="Calibri"/>
              </a:rPr>
              <a:t>Models evaluated:</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Random Forest</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Support Vector Machine</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CNN</a:t>
            </a:r>
            <a:endParaRPr sz="1100">
              <a:solidFill>
                <a:schemeClr val="lt1"/>
              </a:solidFill>
              <a:latin typeface="Calibri"/>
              <a:ea typeface="Calibri"/>
              <a:cs typeface="Calibri"/>
              <a:sym typeface="Calibri"/>
            </a:endParaRPr>
          </a:p>
        </p:txBody>
      </p:sp>
      <p:sp>
        <p:nvSpPr>
          <p:cNvPr id="147" name="Google Shape;147;p18"/>
          <p:cNvSpPr/>
          <p:nvPr/>
        </p:nvSpPr>
        <p:spPr>
          <a:xfrm>
            <a:off x="7782339" y="2254354"/>
            <a:ext cx="2017646" cy="3934067"/>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Model Deployment</a:t>
            </a:r>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a:p>
            <a:pPr marL="0" marR="0" lvl="0" indent="0" algn="ctr" rtl="0">
              <a:spcBef>
                <a:spcPts val="0"/>
              </a:spcBef>
              <a:spcAft>
                <a:spcPts val="0"/>
              </a:spcAft>
              <a:buNone/>
            </a:pPr>
            <a:r>
              <a:rPr lang="en-US" sz="1400" i="1" u="sng">
                <a:solidFill>
                  <a:schemeClr val="lt1"/>
                </a:solidFill>
                <a:latin typeface="Calibri"/>
                <a:ea typeface="Calibri"/>
                <a:cs typeface="Calibri"/>
                <a:sym typeface="Calibri"/>
              </a:rPr>
              <a:t>The trained model will be converted to:</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TensorFlow Lite</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and deployed on an embedded device for real-time inference.</a:t>
            </a:r>
            <a:endParaRPr sz="1100">
              <a:solidFill>
                <a:schemeClr val="lt1"/>
              </a:solidFill>
              <a:latin typeface="Calibri"/>
              <a:ea typeface="Calibri"/>
              <a:cs typeface="Calibri"/>
              <a:sym typeface="Calibri"/>
            </a:endParaRPr>
          </a:p>
        </p:txBody>
      </p:sp>
      <p:sp>
        <p:nvSpPr>
          <p:cNvPr id="148" name="Google Shape;148;p18"/>
          <p:cNvSpPr/>
          <p:nvPr/>
        </p:nvSpPr>
        <p:spPr>
          <a:xfrm>
            <a:off x="10013676" y="2254353"/>
            <a:ext cx="2017646" cy="3934067"/>
          </a:xfrm>
          <a:prstGeom prst="rect">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Fault Detection</a:t>
            </a:r>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a:p>
            <a:pPr marL="0" marR="0" lvl="0" indent="0" algn="ctr" rtl="0">
              <a:spcBef>
                <a:spcPts val="0"/>
              </a:spcBef>
              <a:spcAft>
                <a:spcPts val="0"/>
              </a:spcAft>
              <a:buNone/>
            </a:pPr>
            <a:r>
              <a:rPr lang="en-US" sz="1400" i="1" u="sng">
                <a:solidFill>
                  <a:schemeClr val="lt1"/>
                </a:solidFill>
                <a:latin typeface="Calibri"/>
                <a:ea typeface="Calibri"/>
                <a:cs typeface="Calibri"/>
                <a:sym typeface="Calibri"/>
              </a:rPr>
              <a:t>The system will classify motor conditions into:</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Normal operation</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Imbalance</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Misalignment</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Bearing fault</a:t>
            </a:r>
            <a:endParaRPr sz="1000">
              <a:solidFill>
                <a:schemeClr val="lt1"/>
              </a:solidFill>
              <a:latin typeface="Calibri"/>
              <a:ea typeface="Calibri"/>
              <a:cs typeface="Calibri"/>
              <a:sym typeface="Calibri"/>
            </a:endParaRPr>
          </a:p>
        </p:txBody>
      </p:sp>
      <p:cxnSp>
        <p:nvCxnSpPr>
          <p:cNvPr id="149" name="Google Shape;149;p18"/>
          <p:cNvCxnSpPr>
            <a:stCxn id="143" idx="3"/>
            <a:endCxn id="145" idx="1"/>
          </p:cNvCxnSpPr>
          <p:nvPr/>
        </p:nvCxnSpPr>
        <p:spPr>
          <a:xfrm>
            <a:off x="2473189" y="4232241"/>
            <a:ext cx="21360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150" name="Google Shape;150;p18"/>
          <p:cNvCxnSpPr/>
          <p:nvPr/>
        </p:nvCxnSpPr>
        <p:spPr>
          <a:xfrm>
            <a:off x="5020919" y="4233725"/>
            <a:ext cx="21369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151" name="Google Shape;151;p18"/>
          <p:cNvCxnSpPr/>
          <p:nvPr/>
        </p:nvCxnSpPr>
        <p:spPr>
          <a:xfrm>
            <a:off x="7568649" y="4232241"/>
            <a:ext cx="213690" cy="0"/>
          </a:xfrm>
          <a:prstGeom prst="straightConnector1">
            <a:avLst/>
          </a:prstGeom>
          <a:noFill/>
          <a:ln w="9525" cap="flat" cmpd="sng">
            <a:solidFill>
              <a:schemeClr val="accent1"/>
            </a:solidFill>
            <a:prstDash val="solid"/>
            <a:miter lim="800000"/>
            <a:headEnd type="none" w="sm" len="sm"/>
            <a:tailEnd type="triangle" w="med" len="med"/>
          </a:ln>
        </p:spPr>
      </p:cxnSp>
      <p:cxnSp>
        <p:nvCxnSpPr>
          <p:cNvPr id="152" name="Google Shape;152;p18"/>
          <p:cNvCxnSpPr/>
          <p:nvPr/>
        </p:nvCxnSpPr>
        <p:spPr>
          <a:xfrm>
            <a:off x="9799986" y="4223786"/>
            <a:ext cx="213690" cy="0"/>
          </a:xfrm>
          <a:prstGeom prst="straightConnector1">
            <a:avLst/>
          </a:prstGeom>
          <a:noFill/>
          <a:ln w="9525" cap="flat" cmpd="sng">
            <a:solidFill>
              <a:schemeClr val="accent1"/>
            </a:solidFill>
            <a:prstDash val="solid"/>
            <a:miter lim="800000"/>
            <a:headEnd type="none" w="sm" len="sm"/>
            <a:tailEnd type="triangle" w="med" len="me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9"/>
          <p:cNvSpPr txBox="1">
            <a:spLocks noGrp="1"/>
          </p:cNvSpPr>
          <p:nvPr>
            <p:ph type="title"/>
          </p:nvPr>
        </p:nvSpPr>
        <p:spPr>
          <a:xfrm>
            <a:off x="838200" y="365125"/>
            <a:ext cx="10515600" cy="72817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Methodology Continued…</a:t>
            </a:r>
            <a:endParaRPr/>
          </a:p>
        </p:txBody>
      </p:sp>
      <p:sp>
        <p:nvSpPr>
          <p:cNvPr id="158" name="Google Shape;15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18-04-2026</a:t>
            </a:r>
            <a:endParaRPr/>
          </a:p>
        </p:txBody>
      </p:sp>
      <p:sp>
        <p:nvSpPr>
          <p:cNvPr id="159" name="Google Shape;15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pic>
        <p:nvPicPr>
          <p:cNvPr id="160" name="Google Shape;160;p19"/>
          <p:cNvPicPr preferRelativeResize="0"/>
          <p:nvPr/>
        </p:nvPicPr>
        <p:blipFill rotWithShape="1">
          <a:blip r:embed="rId3">
            <a:alphaModFix/>
          </a:blip>
          <a:srcRect/>
          <a:stretch/>
        </p:blipFill>
        <p:spPr>
          <a:xfrm>
            <a:off x="838200" y="988682"/>
            <a:ext cx="9576507" cy="547229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20"/>
          <p:cNvPicPr preferRelativeResize="0"/>
          <p:nvPr/>
        </p:nvPicPr>
        <p:blipFill rotWithShape="1">
          <a:blip r:embed="rId3">
            <a:alphaModFix/>
          </a:blip>
          <a:srcRect/>
          <a:stretch/>
        </p:blipFill>
        <p:spPr>
          <a:xfrm>
            <a:off x="5352646" y="0"/>
            <a:ext cx="5727740" cy="6858000"/>
          </a:xfrm>
          <a:prstGeom prst="rect">
            <a:avLst/>
          </a:prstGeom>
          <a:noFill/>
          <a:ln>
            <a:noFill/>
          </a:ln>
        </p:spPr>
      </p:pic>
      <p:sp>
        <p:nvSpPr>
          <p:cNvPr id="166" name="Google Shape;166;p20"/>
          <p:cNvSpPr txBox="1">
            <a:spLocks noGrp="1"/>
          </p:cNvSpPr>
          <p:nvPr>
            <p:ph type="title"/>
          </p:nvPr>
        </p:nvSpPr>
        <p:spPr>
          <a:xfrm>
            <a:off x="129208" y="136525"/>
            <a:ext cx="4472610" cy="74647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Timeline of the project</a:t>
            </a:r>
            <a:endParaRPr/>
          </a:p>
        </p:txBody>
      </p:sp>
      <p:sp>
        <p:nvSpPr>
          <p:cNvPr id="167" name="Google Shape;16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18-04-2026</a:t>
            </a:r>
            <a:endParaRPr/>
          </a:p>
        </p:txBody>
      </p:sp>
      <p:sp>
        <p:nvSpPr>
          <p:cNvPr id="168" name="Google Shape;168;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grpSp>
        <p:nvGrpSpPr>
          <p:cNvPr id="169" name="Google Shape;169;p20"/>
          <p:cNvGrpSpPr/>
          <p:nvPr/>
        </p:nvGrpSpPr>
        <p:grpSpPr>
          <a:xfrm>
            <a:off x="8106026" y="283695"/>
            <a:ext cx="220980" cy="586890"/>
            <a:chOff x="0" y="0"/>
            <a:chExt cx="220980" cy="586890"/>
          </a:xfrm>
        </p:grpSpPr>
        <p:sp>
          <p:nvSpPr>
            <p:cNvPr id="170" name="Google Shape;170;p20"/>
            <p:cNvSpPr/>
            <p:nvPr/>
          </p:nvSpPr>
          <p:spPr>
            <a:xfrm>
              <a:off x="0" y="0"/>
              <a:ext cx="220980" cy="144780"/>
            </a:xfrm>
            <a:prstGeom prst="wave">
              <a:avLst>
                <a:gd name="adj1" fmla="val 12500"/>
                <a:gd name="adj2" fmla="val 0"/>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lt1"/>
                </a:solidFill>
                <a:latin typeface="Calibri"/>
                <a:ea typeface="Calibri"/>
                <a:cs typeface="Calibri"/>
                <a:sym typeface="Calibri"/>
              </a:endParaRPr>
            </a:p>
          </p:txBody>
        </p:sp>
        <p:cxnSp>
          <p:nvCxnSpPr>
            <p:cNvPr id="171" name="Google Shape;171;p20"/>
            <p:cNvCxnSpPr>
              <a:stCxn id="170" idx="1"/>
            </p:cNvCxnSpPr>
            <p:nvPr/>
          </p:nvCxnSpPr>
          <p:spPr>
            <a:xfrm>
              <a:off x="0" y="72390"/>
              <a:ext cx="7500" cy="514500"/>
            </a:xfrm>
            <a:prstGeom prst="straightConnector1">
              <a:avLst/>
            </a:prstGeom>
            <a:noFill/>
            <a:ln w="9525" cap="flat" cmpd="sng">
              <a:solidFill>
                <a:schemeClr val="accent1"/>
              </a:solidFill>
              <a:prstDash val="solid"/>
              <a:miter lim="800000"/>
              <a:headEnd type="none" w="sm" len="sm"/>
              <a:tailEnd type="triangle" w="med" len="med"/>
            </a:ln>
          </p:spPr>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Literature Survey</a:t>
            </a:r>
            <a:endParaRPr/>
          </a:p>
        </p:txBody>
      </p:sp>
      <p:sp>
        <p:nvSpPr>
          <p:cNvPr id="177" name="Google Shape;177;p21"/>
          <p:cNvSpPr txBox="1">
            <a:spLocks noGrp="1"/>
          </p:cNvSpPr>
          <p:nvPr>
            <p:ph type="body" idx="1"/>
          </p:nvPr>
        </p:nvSpPr>
        <p:spPr>
          <a:xfrm>
            <a:off x="838200" y="1391478"/>
            <a:ext cx="10515600" cy="4964871"/>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en-US" sz="2000"/>
              <a:t>Predictive Maintenance (PdM) has become an important strategy in </a:t>
            </a:r>
            <a:r>
              <a:rPr lang="en-US" sz="2000" b="1"/>
              <a:t>Industry 4.0</a:t>
            </a:r>
            <a:r>
              <a:rPr lang="en-US" sz="2000"/>
              <a:t> to reduce equipment downtime and improve production efficiency using sensor data and machine learning models. </a:t>
            </a:r>
            <a:endParaRPr/>
          </a:p>
          <a:p>
            <a:pPr marL="228600" lvl="0" indent="-228600" algn="l" rtl="0">
              <a:lnSpc>
                <a:spcPct val="90000"/>
              </a:lnSpc>
              <a:spcBef>
                <a:spcPts val="1000"/>
              </a:spcBef>
              <a:spcAft>
                <a:spcPts val="0"/>
              </a:spcAft>
              <a:buClr>
                <a:schemeClr val="dk1"/>
              </a:buClr>
              <a:buSzPct val="100000"/>
              <a:buChar char="•"/>
            </a:pPr>
            <a:r>
              <a:rPr lang="en-US" sz="2000"/>
              <a:t>AI techniques such as </a:t>
            </a:r>
            <a:r>
              <a:rPr lang="en-US" sz="2000" b="1"/>
              <a:t>machine learning, deep learning, and time-series forecasting</a:t>
            </a:r>
            <a:r>
              <a:rPr lang="en-US" sz="2000"/>
              <a:t> enable early detection of faults by analysing historical operational data from industrial machines. </a:t>
            </a:r>
            <a:endParaRPr/>
          </a:p>
          <a:p>
            <a:pPr marL="228600" lvl="0" indent="-228600" algn="l" rtl="0">
              <a:lnSpc>
                <a:spcPct val="90000"/>
              </a:lnSpc>
              <a:spcBef>
                <a:spcPts val="1000"/>
              </a:spcBef>
              <a:spcAft>
                <a:spcPts val="0"/>
              </a:spcAft>
              <a:buClr>
                <a:schemeClr val="dk1"/>
              </a:buClr>
              <a:buSzPct val="100000"/>
              <a:buChar char="•"/>
            </a:pPr>
            <a:r>
              <a:rPr lang="en-US" sz="2000"/>
              <a:t>Studies show that predictive maintenance systems can reduce maintenance costs by </a:t>
            </a:r>
            <a:r>
              <a:rPr lang="en-US" sz="2000" b="1"/>
              <a:t>15–70%</a:t>
            </a:r>
            <a:r>
              <a:rPr lang="en-US" sz="2000"/>
              <a:t> while improving system reliability and safety in manufacturing environments. </a:t>
            </a:r>
            <a:endParaRPr/>
          </a:p>
          <a:p>
            <a:pPr marL="228600" lvl="0" indent="-228600" algn="l" rtl="0">
              <a:lnSpc>
                <a:spcPct val="90000"/>
              </a:lnSpc>
              <a:spcBef>
                <a:spcPts val="1000"/>
              </a:spcBef>
              <a:spcAft>
                <a:spcPts val="0"/>
              </a:spcAft>
              <a:buClr>
                <a:schemeClr val="dk1"/>
              </a:buClr>
              <a:buSzPct val="100000"/>
              <a:buChar char="•"/>
            </a:pPr>
            <a:r>
              <a:rPr lang="en-US" sz="2000"/>
              <a:t>Traditional predictive maintenance architectures rely heavily on </a:t>
            </a:r>
            <a:r>
              <a:rPr lang="en-US" sz="2000" b="1"/>
              <a:t>cloud-based processing</a:t>
            </a:r>
            <a:r>
              <a:rPr lang="en-US" sz="2000"/>
              <a:t>, which may introduce latency and large data transmission overhead in industrial environments.</a:t>
            </a:r>
            <a:endParaRPr/>
          </a:p>
          <a:p>
            <a:pPr marL="228600" lvl="0" indent="-228600" algn="l" rtl="0">
              <a:lnSpc>
                <a:spcPct val="90000"/>
              </a:lnSpc>
              <a:spcBef>
                <a:spcPts val="1000"/>
              </a:spcBef>
              <a:spcAft>
                <a:spcPts val="0"/>
              </a:spcAft>
              <a:buClr>
                <a:schemeClr val="dk1"/>
              </a:buClr>
              <a:buSzPct val="100000"/>
              <a:buChar char="•"/>
            </a:pPr>
            <a:r>
              <a:rPr lang="en-US" sz="2000"/>
              <a:t>Edge AI enables </a:t>
            </a:r>
            <a:r>
              <a:rPr lang="en-US" sz="2000" b="1"/>
              <a:t>local processing of sensor data near industrial equipment</a:t>
            </a:r>
            <a:r>
              <a:rPr lang="en-US" sz="2000"/>
              <a:t>, significantly reducing latency and bandwidth consumption compared to centralized cloud solutions. </a:t>
            </a:r>
            <a:endParaRPr/>
          </a:p>
          <a:p>
            <a:pPr marL="228600" lvl="0" indent="-228600" algn="l" rtl="0">
              <a:lnSpc>
                <a:spcPct val="90000"/>
              </a:lnSpc>
              <a:spcBef>
                <a:spcPts val="1000"/>
              </a:spcBef>
              <a:spcAft>
                <a:spcPts val="0"/>
              </a:spcAft>
              <a:buClr>
                <a:schemeClr val="dk1"/>
              </a:buClr>
              <a:buSzPct val="100000"/>
              <a:buChar char="•"/>
            </a:pPr>
            <a:r>
              <a:rPr lang="en-US" sz="2000"/>
              <a:t>Research on </a:t>
            </a:r>
            <a:r>
              <a:rPr lang="en-US" sz="2000" b="1"/>
              <a:t>Edge AI for motor condition monitoring</a:t>
            </a:r>
            <a:r>
              <a:rPr lang="en-US" sz="2000"/>
              <a:t> demonstrates that edge-based systems can reduce diagnostic latency by more than </a:t>
            </a:r>
            <a:r>
              <a:rPr lang="en-US" sz="2000" b="1"/>
              <a:t>70% while achieving fault detection accuracy above 94%</a:t>
            </a:r>
            <a:r>
              <a:rPr lang="en-US" sz="2000"/>
              <a:t>. </a:t>
            </a:r>
            <a:endParaRPr/>
          </a:p>
          <a:p>
            <a:pPr marL="228600" lvl="0" indent="-228600" algn="l" rtl="0">
              <a:lnSpc>
                <a:spcPct val="90000"/>
              </a:lnSpc>
              <a:spcBef>
                <a:spcPts val="1000"/>
              </a:spcBef>
              <a:spcAft>
                <a:spcPts val="0"/>
              </a:spcAft>
              <a:buClr>
                <a:schemeClr val="dk1"/>
              </a:buClr>
              <a:buSzPct val="100000"/>
              <a:buChar char="•"/>
            </a:pPr>
            <a:r>
              <a:rPr lang="en-US" sz="2000"/>
              <a:t>Embedded AI models deployed on </a:t>
            </a:r>
            <a:r>
              <a:rPr lang="en-US" sz="2000" b="1"/>
              <a:t>microcontrollers and IIoT edge devices</a:t>
            </a:r>
            <a:r>
              <a:rPr lang="en-US" sz="2000"/>
              <a:t> allow real-time monitoring of vibration, temperature, and electrical signals of industrial motors. </a:t>
            </a:r>
            <a:endParaRPr/>
          </a:p>
          <a:p>
            <a:pPr marL="228600" lvl="0" indent="-228600" algn="l" rtl="0">
              <a:lnSpc>
                <a:spcPct val="90000"/>
              </a:lnSpc>
              <a:spcBef>
                <a:spcPts val="1000"/>
              </a:spcBef>
              <a:spcAft>
                <a:spcPts val="0"/>
              </a:spcAft>
              <a:buClr>
                <a:schemeClr val="dk1"/>
              </a:buClr>
              <a:buSzPct val="100000"/>
              <a:buChar char="•"/>
            </a:pPr>
            <a:r>
              <a:rPr lang="en-US" sz="2000"/>
              <a:t>Several machine learning models including </a:t>
            </a:r>
            <a:r>
              <a:rPr lang="en-US" sz="2000" b="1"/>
              <a:t>SVM, Random Forest, Neural Networks, and k-NN</a:t>
            </a:r>
            <a:r>
              <a:rPr lang="en-US" sz="2000"/>
              <a:t> have been tested for predictive maintenance tasks in industrial manufacturing systems.</a:t>
            </a:r>
            <a:endParaRPr/>
          </a:p>
          <a:p>
            <a:pPr marL="228600" lvl="0" indent="-111125" algn="l" rtl="0">
              <a:lnSpc>
                <a:spcPct val="90000"/>
              </a:lnSpc>
              <a:spcBef>
                <a:spcPts val="1000"/>
              </a:spcBef>
              <a:spcAft>
                <a:spcPts val="0"/>
              </a:spcAft>
              <a:buClr>
                <a:schemeClr val="dk1"/>
              </a:buClr>
              <a:buSzPct val="100000"/>
              <a:buNone/>
            </a:pPr>
            <a:endParaRPr sz="2000"/>
          </a:p>
          <a:p>
            <a:pPr marL="228600" lvl="0" indent="-64135" algn="l" rtl="0">
              <a:lnSpc>
                <a:spcPct val="90000"/>
              </a:lnSpc>
              <a:spcBef>
                <a:spcPts val="1000"/>
              </a:spcBef>
              <a:spcAft>
                <a:spcPts val="0"/>
              </a:spcAft>
              <a:buClr>
                <a:schemeClr val="dk1"/>
              </a:buClr>
              <a:buSzPct val="100000"/>
              <a:buNone/>
            </a:pPr>
            <a:endParaRPr/>
          </a:p>
        </p:txBody>
      </p:sp>
      <p:sp>
        <p:nvSpPr>
          <p:cNvPr id="178" name="Google Shape;17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18-04-2026</a:t>
            </a:r>
            <a:endParaRPr/>
          </a:p>
        </p:txBody>
      </p:sp>
      <p:sp>
        <p:nvSpPr>
          <p:cNvPr id="179" name="Google Shape;17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2"/>
          <p:cNvSpPr txBox="1">
            <a:spLocks noGrp="1"/>
          </p:cNvSpPr>
          <p:nvPr>
            <p:ph type="title"/>
          </p:nvPr>
        </p:nvSpPr>
        <p:spPr>
          <a:xfrm>
            <a:off x="838200" y="365125"/>
            <a:ext cx="10515600" cy="102635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Work Done</a:t>
            </a:r>
            <a:endParaRPr/>
          </a:p>
        </p:txBody>
      </p:sp>
      <p:sp>
        <p:nvSpPr>
          <p:cNvPr id="185" name="Google Shape;185;p22"/>
          <p:cNvSpPr txBox="1">
            <a:spLocks noGrp="1"/>
          </p:cNvSpPr>
          <p:nvPr>
            <p:ph type="body" idx="1"/>
          </p:nvPr>
        </p:nvSpPr>
        <p:spPr>
          <a:xfrm>
            <a:off x="838200" y="1391478"/>
            <a:ext cx="10515600" cy="4785485"/>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ct val="100000"/>
              <a:buChar char="•"/>
            </a:pPr>
            <a:r>
              <a:rPr lang="en-US" b="1"/>
              <a:t>Data Acquisition:</a:t>
            </a:r>
            <a:endParaRPr/>
          </a:p>
          <a:p>
            <a:pPr marL="685800" lvl="1" indent="-228600" algn="l" rtl="0">
              <a:lnSpc>
                <a:spcPct val="90000"/>
              </a:lnSpc>
              <a:spcBef>
                <a:spcPts val="500"/>
              </a:spcBef>
              <a:spcAft>
                <a:spcPts val="0"/>
              </a:spcAft>
              <a:buClr>
                <a:schemeClr val="dk1"/>
              </a:buClr>
              <a:buSzPct val="100000"/>
              <a:buChar char="•"/>
            </a:pPr>
            <a:r>
              <a:rPr lang="en-US"/>
              <a:t>Due to hardware time constraints for Phase 1, physical sensor acquisition was substituted with the industry-standard Case Western Reserve University (CWRU) Bearing Dataset.</a:t>
            </a:r>
            <a:endParaRPr/>
          </a:p>
          <a:p>
            <a:pPr marL="685800" lvl="1" indent="-228600" algn="l" rtl="0">
              <a:lnSpc>
                <a:spcPct val="90000"/>
              </a:lnSpc>
              <a:spcBef>
                <a:spcPts val="500"/>
              </a:spcBef>
              <a:spcAft>
                <a:spcPts val="0"/>
              </a:spcAft>
              <a:buClr>
                <a:schemeClr val="dk1"/>
              </a:buClr>
              <a:buSzPct val="100000"/>
              <a:buChar char="•"/>
            </a:pPr>
            <a:r>
              <a:rPr lang="en-US"/>
              <a:t>This provided high-fidelity, validated vibration telemetry across 4 states: </a:t>
            </a:r>
            <a:r>
              <a:rPr lang="en-US">
                <a:solidFill>
                  <a:srgbClr val="00B050"/>
                </a:solidFill>
              </a:rPr>
              <a:t>Normal</a:t>
            </a:r>
            <a:r>
              <a:rPr lang="en-US"/>
              <a:t>, </a:t>
            </a:r>
            <a:r>
              <a:rPr lang="en-US">
                <a:solidFill>
                  <a:srgbClr val="FF0000"/>
                </a:solidFill>
              </a:rPr>
              <a:t>Ball Defect</a:t>
            </a:r>
            <a:r>
              <a:rPr lang="en-US"/>
              <a:t>, </a:t>
            </a:r>
            <a:r>
              <a:rPr lang="en-US">
                <a:solidFill>
                  <a:srgbClr val="FF0000"/>
                </a:solidFill>
              </a:rPr>
              <a:t>Inner Race Fault</a:t>
            </a:r>
            <a:r>
              <a:rPr lang="en-US"/>
              <a:t>, and </a:t>
            </a:r>
            <a:r>
              <a:rPr lang="en-US">
                <a:solidFill>
                  <a:srgbClr val="FF0000"/>
                </a:solidFill>
              </a:rPr>
              <a:t>Outer Race Fault</a:t>
            </a:r>
            <a:r>
              <a:rPr lang="en-US"/>
              <a:t>.</a:t>
            </a:r>
            <a:endParaRPr/>
          </a:p>
          <a:p>
            <a:pPr marL="228600" lvl="0" indent="-228600" algn="l" rtl="0">
              <a:lnSpc>
                <a:spcPct val="90000"/>
              </a:lnSpc>
              <a:spcBef>
                <a:spcPts val="1000"/>
              </a:spcBef>
              <a:spcAft>
                <a:spcPts val="0"/>
              </a:spcAft>
              <a:buClr>
                <a:schemeClr val="dk1"/>
              </a:buClr>
              <a:buSzPct val="100000"/>
              <a:buChar char="•"/>
            </a:pPr>
            <a:r>
              <a:rPr lang="en-US" b="1"/>
              <a:t>Data Preprocessing:</a:t>
            </a:r>
            <a:endParaRPr/>
          </a:p>
          <a:p>
            <a:pPr marL="685800" lvl="1" indent="-228600" algn="l" rtl="0">
              <a:lnSpc>
                <a:spcPct val="90000"/>
              </a:lnSpc>
              <a:spcBef>
                <a:spcPts val="500"/>
              </a:spcBef>
              <a:spcAft>
                <a:spcPts val="0"/>
              </a:spcAft>
              <a:buClr>
                <a:schemeClr val="dk1"/>
              </a:buClr>
              <a:buSzPct val="100000"/>
              <a:buChar char="•"/>
            </a:pPr>
            <a:r>
              <a:rPr lang="en-US"/>
              <a:t>Adopted a strict 1024-sample windowing approach.</a:t>
            </a:r>
            <a:endParaRPr/>
          </a:p>
          <a:p>
            <a:pPr marL="685800" lvl="1" indent="-228600" algn="l" rtl="0">
              <a:lnSpc>
                <a:spcPct val="90000"/>
              </a:lnSpc>
              <a:spcBef>
                <a:spcPts val="500"/>
              </a:spcBef>
              <a:spcAft>
                <a:spcPts val="0"/>
              </a:spcAft>
              <a:buClr>
                <a:schemeClr val="dk1"/>
              </a:buClr>
              <a:buSzPct val="100000"/>
              <a:buChar char="•"/>
            </a:pPr>
            <a:r>
              <a:rPr lang="en-US"/>
              <a:t>Extracted 4 core statistical features: RMS Vibration, Kurtosis, Spectral Entropy, and Peak Frequency.</a:t>
            </a:r>
            <a:endParaRPr/>
          </a:p>
          <a:p>
            <a:pPr marL="685800" lvl="1" indent="-228600" algn="l" rtl="0">
              <a:lnSpc>
                <a:spcPct val="90000"/>
              </a:lnSpc>
              <a:spcBef>
                <a:spcPts val="500"/>
              </a:spcBef>
              <a:spcAft>
                <a:spcPts val="0"/>
              </a:spcAft>
              <a:buClr>
                <a:schemeClr val="dk1"/>
              </a:buClr>
              <a:buSzPct val="100000"/>
              <a:buChar char="•"/>
            </a:pPr>
            <a:r>
              <a:rPr lang="en-US" i="1"/>
              <a:t>Key Edge Constraint</a:t>
            </a:r>
            <a:r>
              <a:rPr lang="en-US"/>
              <a:t>: This extraction reduced the data payload to under 1KB, essential for low-latency edge networks.</a:t>
            </a:r>
            <a:endParaRPr/>
          </a:p>
          <a:p>
            <a:pPr marL="228600" lvl="0" indent="-228600" algn="l" rtl="0">
              <a:lnSpc>
                <a:spcPct val="90000"/>
              </a:lnSpc>
              <a:spcBef>
                <a:spcPts val="1000"/>
              </a:spcBef>
              <a:spcAft>
                <a:spcPts val="0"/>
              </a:spcAft>
              <a:buClr>
                <a:schemeClr val="dk1"/>
              </a:buClr>
              <a:buSzPct val="100000"/>
              <a:buChar char="•"/>
            </a:pPr>
            <a:r>
              <a:rPr lang="en-US" b="1"/>
              <a:t>Model Training &amp; Quantization:</a:t>
            </a:r>
            <a:endParaRPr/>
          </a:p>
          <a:p>
            <a:pPr marL="685800" lvl="1" indent="-228600" algn="l" rtl="0">
              <a:lnSpc>
                <a:spcPct val="90000"/>
              </a:lnSpc>
              <a:spcBef>
                <a:spcPts val="500"/>
              </a:spcBef>
              <a:spcAft>
                <a:spcPts val="0"/>
              </a:spcAft>
              <a:buClr>
                <a:schemeClr val="dk1"/>
              </a:buClr>
              <a:buSzPct val="100000"/>
              <a:buChar char="•"/>
            </a:pPr>
            <a:r>
              <a:rPr lang="en-US"/>
              <a:t>We trained two distinct models optimized for microcontrollers:</a:t>
            </a:r>
            <a:endParaRPr/>
          </a:p>
          <a:p>
            <a:pPr marL="685800" lvl="1" indent="-228600" algn="l" rtl="0">
              <a:lnSpc>
                <a:spcPct val="90000"/>
              </a:lnSpc>
              <a:spcBef>
                <a:spcPts val="500"/>
              </a:spcBef>
              <a:spcAft>
                <a:spcPts val="0"/>
              </a:spcAft>
              <a:buClr>
                <a:schemeClr val="dk1"/>
              </a:buClr>
              <a:buSzPct val="100000"/>
              <a:buChar char="•"/>
            </a:pPr>
            <a:r>
              <a:rPr lang="en-US"/>
              <a:t>A Random Forest model transpiled entirely into pure C code (.c header) for bare-metal execution.</a:t>
            </a:r>
            <a:endParaRPr/>
          </a:p>
          <a:p>
            <a:pPr marL="685800" lvl="1" indent="-228600" algn="l" rtl="0">
              <a:lnSpc>
                <a:spcPct val="90000"/>
              </a:lnSpc>
              <a:spcBef>
                <a:spcPts val="500"/>
              </a:spcBef>
              <a:spcAft>
                <a:spcPts val="0"/>
              </a:spcAft>
              <a:buClr>
                <a:schemeClr val="dk1"/>
              </a:buClr>
              <a:buSzPct val="100000"/>
              <a:buChar char="•"/>
            </a:pPr>
            <a:r>
              <a:rPr lang="en-US"/>
              <a:t>A TensorFlow Lite Neural Network aggressively quantized to INT8 to drastically reduce memory footprint.</a:t>
            </a:r>
            <a:endParaRPr/>
          </a:p>
        </p:txBody>
      </p:sp>
      <p:sp>
        <p:nvSpPr>
          <p:cNvPr id="186" name="Google Shape;18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18-04-2026</a:t>
            </a:r>
            <a:endParaRPr/>
          </a:p>
        </p:txBody>
      </p:sp>
      <p:sp>
        <p:nvSpPr>
          <p:cNvPr id="187" name="Google Shape;187;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191"/>
        <p:cNvGrpSpPr/>
        <p:nvPr/>
      </p:nvGrpSpPr>
      <p:grpSpPr>
        <a:xfrm>
          <a:off x="0" y="0"/>
          <a:ext cx="0" cy="0"/>
          <a:chOff x="0" y="0"/>
          <a:chExt cx="0" cy="0"/>
        </a:xfrm>
      </p:grpSpPr>
      <p:sp>
        <p:nvSpPr>
          <p:cNvPr id="192" name="Google Shape;192;p23"/>
          <p:cNvSpPr txBox="1">
            <a:spLocks noGrp="1"/>
          </p:cNvSpPr>
          <p:nvPr>
            <p:ph type="title"/>
          </p:nvPr>
        </p:nvSpPr>
        <p:spPr>
          <a:xfrm>
            <a:off x="838200" y="397565"/>
            <a:ext cx="10515600" cy="103470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Results and discussion</a:t>
            </a:r>
            <a:endParaRPr/>
          </a:p>
        </p:txBody>
      </p:sp>
      <p:sp>
        <p:nvSpPr>
          <p:cNvPr id="193" name="Google Shape;19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18-04-2026</a:t>
            </a:r>
            <a:endParaRPr/>
          </a:p>
        </p:txBody>
      </p:sp>
      <p:sp>
        <p:nvSpPr>
          <p:cNvPr id="194" name="Google Shape;19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195" name="Google Shape;195;p23"/>
          <p:cNvSpPr/>
          <p:nvPr/>
        </p:nvSpPr>
        <p:spPr>
          <a:xfrm>
            <a:off x="636104" y="1302026"/>
            <a:ext cx="5337313" cy="483041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Current Progress</a:t>
            </a:r>
            <a:endParaRPr/>
          </a:p>
          <a:p>
            <a:pPr marL="0" marR="0" lvl="0" indent="0" algn="ctr" rtl="0">
              <a:spcBef>
                <a:spcPts val="0"/>
              </a:spcBef>
              <a:spcAft>
                <a:spcPts val="0"/>
              </a:spcAft>
              <a:buNone/>
            </a:pPr>
            <a:endParaRPr sz="1800">
              <a:solidFill>
                <a:schemeClr val="lt1"/>
              </a:solidFill>
              <a:latin typeface="Calibri"/>
              <a:ea typeface="Calibri"/>
              <a:cs typeface="Calibri"/>
              <a:sym typeface="Calibri"/>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The following tasks have been completed:</a:t>
            </a:r>
            <a:endParaRPr/>
          </a:p>
          <a:p>
            <a:pPr marL="0" marR="0" lvl="0" indent="0" algn="ctr" rtl="0">
              <a:spcBef>
                <a:spcPts val="0"/>
              </a:spcBef>
              <a:spcAft>
                <a:spcPts val="0"/>
              </a:spcAft>
              <a:buNone/>
            </a:pPr>
            <a:endParaRPr sz="1800">
              <a:solidFill>
                <a:schemeClr val="lt1"/>
              </a:solidFill>
              <a:latin typeface="Calibri"/>
              <a:ea typeface="Calibri"/>
              <a:cs typeface="Calibri"/>
              <a:sym typeface="Calibri"/>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 Literature survey on predictive maintenance techniques</a:t>
            </a:r>
            <a:endParaRPr/>
          </a:p>
          <a:p>
            <a:pPr marL="0" marR="0" lvl="0" indent="0" algn="ctr" rtl="0">
              <a:spcBef>
                <a:spcPts val="0"/>
              </a:spcBef>
              <a:spcAft>
                <a:spcPts val="0"/>
              </a:spcAft>
              <a:buNone/>
            </a:pPr>
            <a:endParaRPr sz="1800">
              <a:solidFill>
                <a:schemeClr val="lt1"/>
              </a:solidFill>
              <a:latin typeface="Calibri"/>
              <a:ea typeface="Calibri"/>
              <a:cs typeface="Calibri"/>
              <a:sym typeface="Calibri"/>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 Identification of suitable sensors and embedded hardware</a:t>
            </a:r>
            <a:endParaRPr/>
          </a:p>
          <a:p>
            <a:pPr marL="0" marR="0" lvl="0" indent="0" algn="ctr" rtl="0">
              <a:spcBef>
                <a:spcPts val="0"/>
              </a:spcBef>
              <a:spcAft>
                <a:spcPts val="0"/>
              </a:spcAft>
              <a:buNone/>
            </a:pPr>
            <a:endParaRPr sz="1800">
              <a:solidFill>
                <a:schemeClr val="lt1"/>
              </a:solidFill>
              <a:latin typeface="Calibri"/>
              <a:ea typeface="Calibri"/>
              <a:cs typeface="Calibri"/>
              <a:sym typeface="Calibri"/>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 Initial system architecture design</a:t>
            </a:r>
            <a:endParaRPr/>
          </a:p>
          <a:p>
            <a:pPr marL="0" marR="0" lvl="0" indent="0" algn="ctr" rtl="0">
              <a:spcBef>
                <a:spcPts val="0"/>
              </a:spcBef>
              <a:spcAft>
                <a:spcPts val="0"/>
              </a:spcAft>
              <a:buNone/>
            </a:pPr>
            <a:endParaRPr sz="1800">
              <a:solidFill>
                <a:schemeClr val="lt1"/>
              </a:solidFill>
              <a:latin typeface="Calibri"/>
              <a:ea typeface="Calibri"/>
              <a:cs typeface="Calibri"/>
              <a:sym typeface="Calibri"/>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 Study of publicly available vibration datasets</a:t>
            </a:r>
            <a:endParaRPr sz="1800">
              <a:solidFill>
                <a:schemeClr val="lt1"/>
              </a:solidFill>
              <a:latin typeface="Calibri"/>
              <a:ea typeface="Calibri"/>
              <a:cs typeface="Calibri"/>
              <a:sym typeface="Calibri"/>
            </a:endParaRPr>
          </a:p>
        </p:txBody>
      </p:sp>
      <p:sp>
        <p:nvSpPr>
          <p:cNvPr id="196" name="Google Shape;196;p23"/>
          <p:cNvSpPr/>
          <p:nvPr/>
        </p:nvSpPr>
        <p:spPr>
          <a:xfrm>
            <a:off x="6218585" y="1302026"/>
            <a:ext cx="5337313" cy="4830417"/>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Expected Results</a:t>
            </a:r>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The proposed system is expected to:</a:t>
            </a:r>
            <a:endParaRPr/>
          </a:p>
          <a:p>
            <a:pPr marL="0" marR="0" lvl="0" indent="0" algn="ctr"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ctr"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Accurately classify motor faults</a:t>
            </a:r>
            <a:endParaRPr/>
          </a:p>
          <a:p>
            <a:pPr marL="285750" marR="0" lvl="0" indent="-171450" algn="ctr" rtl="0">
              <a:spcBef>
                <a:spcPts val="0"/>
              </a:spcBef>
              <a:spcAft>
                <a:spcPts val="0"/>
              </a:spcAft>
              <a:buClr>
                <a:schemeClr val="dk1"/>
              </a:buClr>
              <a:buSzPts val="1800"/>
              <a:buFont typeface="Arial"/>
              <a:buNone/>
            </a:pPr>
            <a:endParaRPr sz="1800">
              <a:solidFill>
                <a:schemeClr val="lt1"/>
              </a:solidFill>
              <a:latin typeface="Calibri"/>
              <a:ea typeface="Calibri"/>
              <a:cs typeface="Calibri"/>
              <a:sym typeface="Calibri"/>
            </a:endParaRPr>
          </a:p>
          <a:p>
            <a:pPr marL="285750" marR="0" lvl="0" indent="-285750" algn="ctr"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Provide early warning of equipment failure</a:t>
            </a:r>
            <a:endParaRPr/>
          </a:p>
          <a:p>
            <a:pPr marL="285750" marR="0" lvl="0" indent="-171450" algn="ctr" rtl="0">
              <a:spcBef>
                <a:spcPts val="0"/>
              </a:spcBef>
              <a:spcAft>
                <a:spcPts val="0"/>
              </a:spcAft>
              <a:buClr>
                <a:schemeClr val="dk1"/>
              </a:buClr>
              <a:buSzPts val="1800"/>
              <a:buFont typeface="Arial"/>
              <a:buNone/>
            </a:pPr>
            <a:endParaRPr sz="1800">
              <a:solidFill>
                <a:schemeClr val="lt1"/>
              </a:solidFill>
              <a:latin typeface="Calibri"/>
              <a:ea typeface="Calibri"/>
              <a:cs typeface="Calibri"/>
              <a:sym typeface="Calibri"/>
            </a:endParaRPr>
          </a:p>
          <a:p>
            <a:pPr marL="285750" marR="0" lvl="0" indent="-285750" algn="ctr"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Enable real-time edge monitoring</a:t>
            </a:r>
            <a:endParaRPr/>
          </a:p>
          <a:p>
            <a:pPr marL="0" marR="0" lvl="0" indent="0" algn="ctr" rtl="0">
              <a:spcBef>
                <a:spcPts val="0"/>
              </a:spcBef>
              <a:spcAft>
                <a:spcPts val="0"/>
              </a:spcAft>
              <a:buNone/>
            </a:pPr>
            <a:endParaRPr sz="1800">
              <a:solidFill>
                <a:schemeClr val="lt1"/>
              </a:solidFill>
              <a:latin typeface="Calibri"/>
              <a:ea typeface="Calibri"/>
              <a:cs typeface="Calibri"/>
              <a:sym typeface="Calibri"/>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Performance will be evaluated using:</a:t>
            </a:r>
            <a:endParaRPr/>
          </a:p>
          <a:p>
            <a:pPr marL="0" marR="0" lvl="0" indent="0" algn="ctr" rtl="0">
              <a:spcBef>
                <a:spcPts val="0"/>
              </a:spcBef>
              <a:spcAft>
                <a:spcPts val="0"/>
              </a:spcAft>
              <a:buNone/>
            </a:pPr>
            <a:endParaRPr sz="1800">
              <a:solidFill>
                <a:schemeClr val="lt1"/>
              </a:solidFill>
              <a:latin typeface="Calibri"/>
              <a:ea typeface="Calibri"/>
              <a:cs typeface="Calibri"/>
              <a:sym typeface="Calibri"/>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Accuracy, Precision,</a:t>
            </a:r>
            <a:endParaRPr/>
          </a:p>
          <a:p>
            <a:pPr marL="0" marR="0" lvl="0" indent="0" algn="ctr" rtl="0">
              <a:spcBef>
                <a:spcPts val="0"/>
              </a:spcBef>
              <a:spcAft>
                <a:spcPts val="0"/>
              </a:spcAft>
              <a:buNone/>
            </a:pPr>
            <a:endParaRPr sz="1800">
              <a:solidFill>
                <a:schemeClr val="lt1"/>
              </a:solidFill>
              <a:latin typeface="Calibri"/>
              <a:ea typeface="Calibri"/>
              <a:cs typeface="Calibri"/>
              <a:sym typeface="Calibri"/>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Recall, Confusion matrix</a:t>
            </a: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4"/>
          <p:cNvSpPr txBox="1">
            <a:spLocks noGrp="1"/>
          </p:cNvSpPr>
          <p:nvPr>
            <p:ph type="title"/>
          </p:nvPr>
        </p:nvSpPr>
        <p:spPr>
          <a:xfrm>
            <a:off x="838200" y="365125"/>
            <a:ext cx="10515600" cy="95677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Results and discussions</a:t>
            </a:r>
            <a:endParaRPr/>
          </a:p>
        </p:txBody>
      </p:sp>
      <p:sp>
        <p:nvSpPr>
          <p:cNvPr id="202" name="Google Shape;202;p24"/>
          <p:cNvSpPr txBox="1">
            <a:spLocks noGrp="1"/>
          </p:cNvSpPr>
          <p:nvPr>
            <p:ph type="body" idx="1"/>
          </p:nvPr>
        </p:nvSpPr>
        <p:spPr>
          <a:xfrm>
            <a:off x="838200" y="1321904"/>
            <a:ext cx="10515600" cy="4855059"/>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dk1"/>
              </a:buClr>
              <a:buSzPct val="100000"/>
              <a:buNone/>
            </a:pPr>
            <a:r>
              <a:rPr lang="en-US" b="1"/>
              <a:t>1. ESP32 Hardware Deployment (Wokwi Simulation):</a:t>
            </a:r>
            <a:endParaRPr/>
          </a:p>
          <a:p>
            <a:pPr marL="685800" lvl="1" indent="-228600" algn="l" rtl="0">
              <a:lnSpc>
                <a:spcPct val="90000"/>
              </a:lnSpc>
              <a:spcBef>
                <a:spcPts val="500"/>
              </a:spcBef>
              <a:spcAft>
                <a:spcPts val="0"/>
              </a:spcAft>
              <a:buClr>
                <a:schemeClr val="dk1"/>
              </a:buClr>
              <a:buSzPct val="100000"/>
              <a:buChar char="•"/>
            </a:pPr>
            <a:r>
              <a:rPr lang="en-US"/>
              <a:t>Successfully deployed the compiled C-based ML model onto a simulated ESP32 microcontroller.</a:t>
            </a:r>
            <a:endParaRPr/>
          </a:p>
          <a:p>
            <a:pPr marL="685800" lvl="1" indent="-228600" algn="l" rtl="0">
              <a:lnSpc>
                <a:spcPct val="90000"/>
              </a:lnSpc>
              <a:spcBef>
                <a:spcPts val="500"/>
              </a:spcBef>
              <a:spcAft>
                <a:spcPts val="0"/>
              </a:spcAft>
              <a:buClr>
                <a:schemeClr val="dk1"/>
              </a:buClr>
              <a:buSzPct val="100000"/>
              <a:buChar char="•"/>
            </a:pPr>
            <a:r>
              <a:rPr lang="en-US"/>
              <a:t>Achieved real-time inference (in microseconds) directly on the edge hardware without relying on any cloud API.</a:t>
            </a:r>
            <a:endParaRPr/>
          </a:p>
          <a:p>
            <a:pPr marL="0" lvl="0" indent="0" algn="l" rtl="0">
              <a:lnSpc>
                <a:spcPct val="90000"/>
              </a:lnSpc>
              <a:spcBef>
                <a:spcPts val="1000"/>
              </a:spcBef>
              <a:spcAft>
                <a:spcPts val="0"/>
              </a:spcAft>
              <a:buClr>
                <a:schemeClr val="dk1"/>
              </a:buClr>
              <a:buSzPct val="100000"/>
              <a:buNone/>
            </a:pPr>
            <a:r>
              <a:rPr lang="en-US" b="1"/>
              <a:t>2. Streamlit “Digital Twin” Dashboard:</a:t>
            </a:r>
            <a:endParaRPr/>
          </a:p>
          <a:p>
            <a:pPr marL="685800" lvl="1" indent="-228600" algn="l" rtl="0">
              <a:lnSpc>
                <a:spcPct val="90000"/>
              </a:lnSpc>
              <a:spcBef>
                <a:spcPts val="500"/>
              </a:spcBef>
              <a:spcAft>
                <a:spcPts val="0"/>
              </a:spcAft>
              <a:buClr>
                <a:schemeClr val="dk1"/>
              </a:buClr>
              <a:buSzPct val="100000"/>
              <a:buChar char="•"/>
            </a:pPr>
            <a:r>
              <a:rPr lang="en-US"/>
              <a:t>Developed a fully functional web dashboard that loads the quantized edge_model.tflite model.</a:t>
            </a:r>
            <a:endParaRPr/>
          </a:p>
          <a:p>
            <a:pPr marL="685800" lvl="1" indent="-228600" algn="l" rtl="0">
              <a:lnSpc>
                <a:spcPct val="90000"/>
              </a:lnSpc>
              <a:spcBef>
                <a:spcPts val="500"/>
              </a:spcBef>
              <a:spcAft>
                <a:spcPts val="0"/>
              </a:spcAft>
              <a:buClr>
                <a:schemeClr val="dk1"/>
              </a:buClr>
              <a:buSzPct val="100000"/>
              <a:buChar char="•"/>
            </a:pPr>
            <a:r>
              <a:rPr lang="en-US"/>
              <a:t>Evaluates simulated real-time telemetry, plotting continuous Telemetry Trends (Vibration &amp; Entropy) and visualizing Model Confidence Distributions.</a:t>
            </a:r>
            <a:endParaRPr/>
          </a:p>
          <a:p>
            <a:pPr marL="0" lvl="0" indent="0" algn="l" rtl="0">
              <a:lnSpc>
                <a:spcPct val="90000"/>
              </a:lnSpc>
              <a:spcBef>
                <a:spcPts val="1000"/>
              </a:spcBef>
              <a:spcAft>
                <a:spcPts val="0"/>
              </a:spcAft>
              <a:buClr>
                <a:schemeClr val="dk1"/>
              </a:buClr>
              <a:buSzPct val="100000"/>
              <a:buNone/>
            </a:pPr>
            <a:r>
              <a:rPr lang="en-US" b="1"/>
              <a:t>3. Implementation of Smart Alerting Rules:</a:t>
            </a:r>
            <a:endParaRPr/>
          </a:p>
          <a:p>
            <a:pPr marL="685800" lvl="1" indent="-228600" algn="l" rtl="0">
              <a:lnSpc>
                <a:spcPct val="90000"/>
              </a:lnSpc>
              <a:spcBef>
                <a:spcPts val="500"/>
              </a:spcBef>
              <a:spcAft>
                <a:spcPts val="0"/>
              </a:spcAft>
              <a:buClr>
                <a:schemeClr val="dk1"/>
              </a:buClr>
              <a:buSzPct val="100000"/>
              <a:buChar char="•"/>
            </a:pPr>
            <a:r>
              <a:rPr lang="en-US"/>
              <a:t>Built dynamic thresholding: If the model's prediction confidence drops below 75%, the system safely flags the state as "Uncertain" rather than triggering a false-positive factory alarm.</a:t>
            </a:r>
            <a:endParaRPr/>
          </a:p>
        </p:txBody>
      </p:sp>
      <p:sp>
        <p:nvSpPr>
          <p:cNvPr id="203" name="Google Shape;20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18-04-2026</a:t>
            </a:r>
            <a:endParaRPr/>
          </a:p>
        </p:txBody>
      </p:sp>
      <p:sp>
        <p:nvSpPr>
          <p:cNvPr id="204" name="Google Shape;20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5"/>
          <p:cNvSpPr txBox="1">
            <a:spLocks noGrp="1"/>
          </p:cNvSpPr>
          <p:nvPr>
            <p:ph type="title"/>
          </p:nvPr>
        </p:nvSpPr>
        <p:spPr>
          <a:xfrm>
            <a:off x="838200" y="136525"/>
            <a:ext cx="10515600" cy="76793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Results and Discussions Continued…</a:t>
            </a:r>
            <a:endParaRPr/>
          </a:p>
        </p:txBody>
      </p:sp>
      <p:sp>
        <p:nvSpPr>
          <p:cNvPr id="210" name="Google Shape;210;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18-04-2026</a:t>
            </a:r>
            <a:endParaRPr/>
          </a:p>
        </p:txBody>
      </p:sp>
      <p:sp>
        <p:nvSpPr>
          <p:cNvPr id="211" name="Google Shape;211;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212" name="Google Shape;212;p25"/>
          <p:cNvSpPr/>
          <p:nvPr/>
        </p:nvSpPr>
        <p:spPr>
          <a:xfrm>
            <a:off x="725557" y="1669222"/>
            <a:ext cx="5118652" cy="4731026"/>
          </a:xfrm>
          <a:prstGeom prst="snip2DiagRect">
            <a:avLst>
              <a:gd name="adj1" fmla="val 0"/>
              <a:gd name="adj2"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i="1">
                <a:solidFill>
                  <a:schemeClr val="lt1"/>
                </a:solidFill>
                <a:latin typeface="Calibri"/>
                <a:ea typeface="Calibri"/>
                <a:cs typeface="Calibri"/>
                <a:sym typeface="Calibri"/>
              </a:rPr>
              <a:t>MODEL 1:</a:t>
            </a:r>
            <a:r>
              <a:rPr lang="en-US" sz="1800">
                <a:solidFill>
                  <a:schemeClr val="lt1"/>
                </a:solidFill>
                <a:latin typeface="Calibri"/>
                <a:ea typeface="Calibri"/>
                <a:cs typeface="Calibri"/>
                <a:sym typeface="Calibri"/>
              </a:rPr>
              <a:t> INT8 Quantized TensorFlow Lite Neural Network</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Overall Accuracy: 100.00%</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Average Latency: 0.010 ms per sample</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Memory Footprint: 2.7 KB</a:t>
            </a:r>
            <a:endParaRPr/>
          </a:p>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3" name="Google Shape;213;p25"/>
          <p:cNvSpPr/>
          <p:nvPr/>
        </p:nvSpPr>
        <p:spPr>
          <a:xfrm>
            <a:off x="6347793" y="1669222"/>
            <a:ext cx="5118652" cy="4731026"/>
          </a:xfrm>
          <a:prstGeom prst="snip2DiagRect">
            <a:avLst>
              <a:gd name="adj1" fmla="val 0"/>
              <a:gd name="adj2"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800" i="1">
                <a:solidFill>
                  <a:schemeClr val="lt1"/>
                </a:solidFill>
                <a:latin typeface="Calibri"/>
                <a:ea typeface="Calibri"/>
                <a:cs typeface="Calibri"/>
                <a:sym typeface="Calibri"/>
              </a:rPr>
              <a:t>MODEL 2:</a:t>
            </a:r>
            <a:r>
              <a:rPr lang="en-US" sz="1800">
                <a:solidFill>
                  <a:schemeClr val="lt1"/>
                </a:solidFill>
                <a:latin typeface="Calibri"/>
                <a:ea typeface="Calibri"/>
                <a:cs typeface="Calibri"/>
                <a:sym typeface="Calibri"/>
              </a:rPr>
              <a:t> Embedded Random Forest (Pure C-Transpiled)</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Overall Accuracy: 100.00%</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Average Latency: 0.005 ms per sample</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Memory Footprint: ~43 KB (Raw C Array footprint)</a:t>
            </a:r>
            <a:endParaRPr/>
          </a:p>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 name="Google Shape;214;p25"/>
          <p:cNvSpPr/>
          <p:nvPr/>
        </p:nvSpPr>
        <p:spPr>
          <a:xfrm>
            <a:off x="725555" y="992114"/>
            <a:ext cx="7914861" cy="677108"/>
          </a:xfrm>
          <a:prstGeom prst="rect">
            <a:avLst/>
          </a:prstGeom>
          <a:noFill/>
          <a:ln>
            <a:noFill/>
          </a:ln>
        </p:spPr>
        <p:txBody>
          <a:bodyPr spcFirstLastPara="1" wrap="square" lIns="91425" tIns="45700" rIns="91425" bIns="45700" anchor="t" anchorCtr="0">
            <a:noAutofit/>
          </a:bodyPr>
          <a:lstStyle/>
          <a:p>
            <a:pPr marL="0" marR="0" lvl="0" indent="-127000" algn="l" rtl="0">
              <a:spcBef>
                <a:spcPts val="0"/>
              </a:spcBef>
              <a:spcAft>
                <a:spcPts val="0"/>
              </a:spcAft>
              <a:buClr>
                <a:schemeClr val="dk1"/>
              </a:buClr>
              <a:buSzPts val="2000"/>
              <a:buFont typeface="Noto Sans Symbols"/>
              <a:buChar char="⮚"/>
            </a:pPr>
            <a:r>
              <a:rPr lang="en-US" sz="2000">
                <a:solidFill>
                  <a:schemeClr val="dk1"/>
                </a:solidFill>
                <a:latin typeface="Calibri"/>
                <a:ea typeface="Calibri"/>
                <a:cs typeface="Calibri"/>
                <a:sym typeface="Calibri"/>
              </a:rPr>
              <a:t>Model Comparison and Trade-off</a:t>
            </a:r>
            <a:endParaRPr/>
          </a:p>
          <a:p>
            <a:pPr marL="0" marR="0" lvl="0" indent="-114300" algn="l" rtl="0">
              <a:spcBef>
                <a:spcPts val="0"/>
              </a:spcBef>
              <a:spcAft>
                <a:spcPts val="0"/>
              </a:spcAft>
              <a:buClr>
                <a:schemeClr val="dk1"/>
              </a:buClr>
              <a:buSzPts val="1800"/>
              <a:buFont typeface="Noto Sans Symbols"/>
              <a:buChar char="⮚"/>
            </a:pPr>
            <a:r>
              <a:rPr lang="en-US" sz="1800" i="1">
                <a:solidFill>
                  <a:schemeClr val="dk1"/>
                </a:solidFill>
                <a:latin typeface="Calibri"/>
                <a:ea typeface="Calibri"/>
                <a:cs typeface="Calibri"/>
                <a:sym typeface="Calibri"/>
              </a:rPr>
              <a:t>Rigorous 80/20 Train/Test Split on 2,200+ telemetry windows.</a:t>
            </a:r>
            <a:endParaRPr sz="2000">
              <a:solidFill>
                <a:schemeClr val="dk1"/>
              </a:solidFill>
              <a:latin typeface="Calibri"/>
              <a:ea typeface="Calibri"/>
              <a:cs typeface="Calibri"/>
              <a:sym typeface="Calibri"/>
            </a:endParaRPr>
          </a:p>
        </p:txBody>
      </p:sp>
      <p:sp>
        <p:nvSpPr>
          <p:cNvPr id="215" name="Google Shape;215;p25"/>
          <p:cNvSpPr/>
          <p:nvPr/>
        </p:nvSpPr>
        <p:spPr>
          <a:xfrm>
            <a:off x="1835428" y="4732613"/>
            <a:ext cx="4260572" cy="189941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388" y="46128"/>
                </a:lnTo>
              </a:path>
            </a:pathLst>
          </a:custGeom>
          <a:gradFill>
            <a:gsLst>
              <a:gs pos="0">
                <a:srgbClr val="B4D4A5"/>
              </a:gs>
              <a:gs pos="50000">
                <a:srgbClr val="A8CD97"/>
              </a:gs>
              <a:gs pos="100000">
                <a:srgbClr val="9BC985"/>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Verdict: Extremely compact in memory, making it perfect for the tightest microcontroller storage limitations, but slightly slower than pure C logic (though still unbelievably fast at 10 microseconds).</a:t>
            </a:r>
            <a:endParaRPr/>
          </a:p>
        </p:txBody>
      </p:sp>
      <p:sp>
        <p:nvSpPr>
          <p:cNvPr id="216" name="Google Shape;216;p25"/>
          <p:cNvSpPr/>
          <p:nvPr/>
        </p:nvSpPr>
        <p:spPr>
          <a:xfrm>
            <a:off x="7457660" y="4803223"/>
            <a:ext cx="4310269" cy="18288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0000" y="22500"/>
                </a:moveTo>
                <a:lnTo>
                  <a:pt x="-388" y="46128"/>
                </a:lnTo>
              </a:path>
            </a:pathLst>
          </a:custGeom>
          <a:gradFill>
            <a:gsLst>
              <a:gs pos="0">
                <a:srgbClr val="B4D4A5"/>
              </a:gs>
              <a:gs pos="50000">
                <a:srgbClr val="A8CD97"/>
              </a:gs>
              <a:gs pos="100000">
                <a:srgbClr val="9BC985"/>
              </a:gs>
            </a:gsLst>
            <a:lin ang="5400000" scaled="0"/>
          </a:gradFill>
          <a:ln w="9525"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just" rtl="0">
              <a:spcBef>
                <a:spcPts val="0"/>
              </a:spcBef>
              <a:spcAft>
                <a:spcPts val="0"/>
              </a:spcAft>
              <a:buNone/>
            </a:pPr>
            <a:r>
              <a:rPr lang="en-US" sz="1800">
                <a:solidFill>
                  <a:schemeClr val="dk1"/>
                </a:solidFill>
                <a:latin typeface="Calibri"/>
                <a:ea typeface="Calibri"/>
                <a:cs typeface="Calibri"/>
                <a:sym typeface="Calibri"/>
              </a:rPr>
              <a:t>Verdict: Unbeatable execution speed because it is compiled as raw machine instructions (twice as fast as TFLite), but it takes up significantly more flash memory (43KB vs 2.7KB) because every branch of the 15 decision trees is hardcoded.</a:t>
            </a:r>
            <a:endParaRPr sz="180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6"/>
          <p:cNvSpPr txBox="1">
            <a:spLocks noGrp="1"/>
          </p:cNvSpPr>
          <p:nvPr>
            <p:ph type="title"/>
          </p:nvPr>
        </p:nvSpPr>
        <p:spPr>
          <a:xfrm>
            <a:off x="236192" y="0"/>
            <a:ext cx="10515600" cy="66854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Results and Discussions Continued…</a:t>
            </a:r>
            <a:endParaRPr/>
          </a:p>
        </p:txBody>
      </p:sp>
      <p:pic>
        <p:nvPicPr>
          <p:cNvPr id="222" name="Google Shape;222;p26"/>
          <p:cNvPicPr preferRelativeResize="0">
            <a:picLocks noGrp="1"/>
          </p:cNvPicPr>
          <p:nvPr>
            <p:ph type="body" idx="1"/>
          </p:nvPr>
        </p:nvPicPr>
        <p:blipFill rotWithShape="1">
          <a:blip r:embed="rId3">
            <a:alphaModFix/>
          </a:blip>
          <a:srcRect/>
          <a:stretch/>
        </p:blipFill>
        <p:spPr>
          <a:xfrm>
            <a:off x="236192" y="668545"/>
            <a:ext cx="6214303" cy="3257801"/>
          </a:xfrm>
          <a:prstGeom prst="rect">
            <a:avLst/>
          </a:prstGeom>
          <a:noFill/>
          <a:ln>
            <a:noFill/>
          </a:ln>
        </p:spPr>
      </p:pic>
      <p:sp>
        <p:nvSpPr>
          <p:cNvPr id="223" name="Google Shape;22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18-04-2026</a:t>
            </a:r>
            <a:endParaRPr/>
          </a:p>
        </p:txBody>
      </p:sp>
      <p:sp>
        <p:nvSpPr>
          <p:cNvPr id="224" name="Google Shape;22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pic>
        <p:nvPicPr>
          <p:cNvPr id="225" name="Google Shape;225;p26"/>
          <p:cNvPicPr preferRelativeResize="0"/>
          <p:nvPr/>
        </p:nvPicPr>
        <p:blipFill rotWithShape="1">
          <a:blip r:embed="rId4">
            <a:alphaModFix/>
          </a:blip>
          <a:srcRect/>
          <a:stretch/>
        </p:blipFill>
        <p:spPr>
          <a:xfrm>
            <a:off x="5859808" y="3398917"/>
            <a:ext cx="6096000" cy="2957433"/>
          </a:xfrm>
          <a:prstGeom prst="rect">
            <a:avLst/>
          </a:prstGeom>
          <a:noFill/>
          <a:ln>
            <a:noFill/>
          </a:ln>
        </p:spPr>
      </p:pic>
      <p:sp>
        <p:nvSpPr>
          <p:cNvPr id="226" name="Google Shape;226;p26"/>
          <p:cNvSpPr/>
          <p:nvPr/>
        </p:nvSpPr>
        <p:spPr>
          <a:xfrm>
            <a:off x="6956424" y="737002"/>
            <a:ext cx="4102514" cy="1560443"/>
          </a:xfrm>
          <a:prstGeom prst="snip2DiagRect">
            <a:avLst>
              <a:gd name="adj1" fmla="val 0"/>
              <a:gd name="adj2" fmla="val 16667"/>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Simulation: Random Forrest model deployed over ESP32 </a:t>
            </a:r>
            <a:endParaRPr/>
          </a:p>
        </p:txBody>
      </p:sp>
      <p:sp>
        <p:nvSpPr>
          <p:cNvPr id="227" name="Google Shape;227;p26"/>
          <p:cNvSpPr/>
          <p:nvPr/>
        </p:nvSpPr>
        <p:spPr>
          <a:xfrm>
            <a:off x="1272207" y="4462670"/>
            <a:ext cx="4102514" cy="1560443"/>
          </a:xfrm>
          <a:prstGeom prst="snip2DiagRect">
            <a:avLst>
              <a:gd name="adj1" fmla="val 0"/>
              <a:gd name="adj2"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Simulation: INT8 Quantized Tflite neural Network </a:t>
            </a:r>
            <a:endParaRPr/>
          </a:p>
        </p:txBody>
      </p:sp>
      <p:cxnSp>
        <p:nvCxnSpPr>
          <p:cNvPr id="228" name="Google Shape;228;p26"/>
          <p:cNvCxnSpPr>
            <a:stCxn id="227" idx="0"/>
          </p:cNvCxnSpPr>
          <p:nvPr/>
        </p:nvCxnSpPr>
        <p:spPr>
          <a:xfrm>
            <a:off x="5374721" y="5242892"/>
            <a:ext cx="499200" cy="0"/>
          </a:xfrm>
          <a:prstGeom prst="straightConnector1">
            <a:avLst/>
          </a:prstGeom>
          <a:noFill/>
          <a:ln w="57150" cap="flat" cmpd="sng">
            <a:solidFill>
              <a:schemeClr val="accent1"/>
            </a:solidFill>
            <a:prstDash val="solid"/>
            <a:miter lim="800000"/>
            <a:headEnd type="none" w="sm" len="sm"/>
            <a:tailEnd type="triangle" w="med" len="med"/>
          </a:ln>
        </p:spPr>
      </p:cxnSp>
      <p:cxnSp>
        <p:nvCxnSpPr>
          <p:cNvPr id="229" name="Google Shape;229;p26"/>
          <p:cNvCxnSpPr>
            <a:stCxn id="226" idx="2"/>
          </p:cNvCxnSpPr>
          <p:nvPr/>
        </p:nvCxnSpPr>
        <p:spPr>
          <a:xfrm rot="10800000">
            <a:off x="6460524" y="1517224"/>
            <a:ext cx="495900" cy="0"/>
          </a:xfrm>
          <a:prstGeom prst="straightConnector1">
            <a:avLst/>
          </a:prstGeom>
          <a:noFill/>
          <a:ln w="57150" cap="flat" cmpd="sng">
            <a:solidFill>
              <a:schemeClr val="accent1"/>
            </a:solidFill>
            <a:prstDash val="solid"/>
            <a:miter lim="800000"/>
            <a:headEnd type="none" w="sm" len="sm"/>
            <a:tailEnd type="triangle" w="med" len="med"/>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233"/>
        <p:cNvGrpSpPr/>
        <p:nvPr/>
      </p:nvGrpSpPr>
      <p:grpSpPr>
        <a:xfrm>
          <a:off x="0" y="0"/>
          <a:ext cx="0" cy="0"/>
          <a:chOff x="0" y="0"/>
          <a:chExt cx="0" cy="0"/>
        </a:xfrm>
      </p:grpSpPr>
      <p:sp>
        <p:nvSpPr>
          <p:cNvPr id="234" name="Google Shape;234;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Conclusion</a:t>
            </a:r>
            <a:endParaRPr/>
          </a:p>
        </p:txBody>
      </p:sp>
      <p:sp>
        <p:nvSpPr>
          <p:cNvPr id="235" name="Google Shape;235;p27"/>
          <p:cNvSpPr txBox="1">
            <a:spLocks noGrp="1"/>
          </p:cNvSpPr>
          <p:nvPr>
            <p:ph type="body" idx="1"/>
          </p:nvPr>
        </p:nvSpPr>
        <p:spPr>
          <a:xfrm>
            <a:off x="838200" y="1594403"/>
            <a:ext cx="10515600" cy="46037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This project proposes a low-cost Edge AI solution for predictive maintenance of industrial motors.</a:t>
            </a:r>
            <a:endParaRPr/>
          </a:p>
        </p:txBody>
      </p:sp>
      <p:sp>
        <p:nvSpPr>
          <p:cNvPr id="236" name="Google Shape;236;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18-04-2026</a:t>
            </a:r>
            <a:endParaRPr/>
          </a:p>
        </p:txBody>
      </p:sp>
      <p:sp>
        <p:nvSpPr>
          <p:cNvPr id="237" name="Google Shape;23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238" name="Google Shape;238;p27"/>
          <p:cNvSpPr/>
          <p:nvPr/>
        </p:nvSpPr>
        <p:spPr>
          <a:xfrm>
            <a:off x="1023730" y="2226365"/>
            <a:ext cx="4939748" cy="4129985"/>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Key contributions:</a:t>
            </a:r>
            <a:endParaRPr/>
          </a:p>
          <a:p>
            <a:pPr marL="0" marR="0" lvl="0" indent="0" algn="ctr"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ctr"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Sensor-based motor monitoring system</a:t>
            </a:r>
            <a:endParaRPr/>
          </a:p>
          <a:p>
            <a:pPr marL="285750" marR="0" lvl="0" indent="-171450" algn="ctr" rtl="0">
              <a:spcBef>
                <a:spcPts val="0"/>
              </a:spcBef>
              <a:spcAft>
                <a:spcPts val="0"/>
              </a:spcAft>
              <a:buClr>
                <a:schemeClr val="dk1"/>
              </a:buClr>
              <a:buSzPts val="1800"/>
              <a:buFont typeface="Arial"/>
              <a:buNone/>
            </a:pPr>
            <a:endParaRPr sz="1800">
              <a:solidFill>
                <a:schemeClr val="lt1"/>
              </a:solidFill>
              <a:latin typeface="Calibri"/>
              <a:ea typeface="Calibri"/>
              <a:cs typeface="Calibri"/>
              <a:sym typeface="Calibri"/>
            </a:endParaRPr>
          </a:p>
          <a:p>
            <a:pPr marL="285750" marR="0" lvl="0" indent="-285750" algn="ctr"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Machine learning model for fault detection</a:t>
            </a:r>
            <a:endParaRPr/>
          </a:p>
          <a:p>
            <a:pPr marL="285750" marR="0" lvl="0" indent="-171450" algn="ctr" rtl="0">
              <a:spcBef>
                <a:spcPts val="0"/>
              </a:spcBef>
              <a:spcAft>
                <a:spcPts val="0"/>
              </a:spcAft>
              <a:buClr>
                <a:schemeClr val="dk1"/>
              </a:buClr>
              <a:buSzPts val="1800"/>
              <a:buFont typeface="Arial"/>
              <a:buNone/>
            </a:pPr>
            <a:endParaRPr sz="1800">
              <a:solidFill>
                <a:schemeClr val="lt1"/>
              </a:solidFill>
              <a:latin typeface="Calibri"/>
              <a:ea typeface="Calibri"/>
              <a:cs typeface="Calibri"/>
              <a:sym typeface="Calibri"/>
            </a:endParaRPr>
          </a:p>
          <a:p>
            <a:pPr marL="285750" marR="0" lvl="0" indent="-285750" algn="ctr"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Embedded edge deployment for real-time inference</a:t>
            </a:r>
            <a:endParaRPr/>
          </a:p>
          <a:p>
            <a:pPr marL="0" marR="0" lvl="0" indent="0" algn="ctr" rtl="0">
              <a:spcBef>
                <a:spcPts val="0"/>
              </a:spcBef>
              <a:spcAft>
                <a:spcPts val="0"/>
              </a:spcAft>
              <a:buNone/>
            </a:pPr>
            <a:endParaRPr sz="1800">
              <a:solidFill>
                <a:schemeClr val="lt1"/>
              </a:solidFill>
              <a:latin typeface="Calibri"/>
              <a:ea typeface="Calibri"/>
              <a:cs typeface="Calibri"/>
              <a:sym typeface="Calibri"/>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The system can help industries reduce downtime and improve operational efficiency.</a:t>
            </a:r>
            <a:endParaRPr sz="1800">
              <a:solidFill>
                <a:schemeClr val="lt1"/>
              </a:solidFill>
              <a:latin typeface="Calibri"/>
              <a:ea typeface="Calibri"/>
              <a:cs typeface="Calibri"/>
              <a:sym typeface="Calibri"/>
            </a:endParaRPr>
          </a:p>
        </p:txBody>
      </p:sp>
      <p:sp>
        <p:nvSpPr>
          <p:cNvPr id="239" name="Google Shape;239;p27"/>
          <p:cNvSpPr/>
          <p:nvPr/>
        </p:nvSpPr>
        <p:spPr>
          <a:xfrm>
            <a:off x="6228522" y="2226364"/>
            <a:ext cx="4939748" cy="4129985"/>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Future work includes:</a:t>
            </a:r>
            <a:endParaRPr/>
          </a:p>
          <a:p>
            <a:pPr marL="0" marR="0" lvl="0" indent="0" algn="ctr" rtl="0">
              <a:spcBef>
                <a:spcPts val="0"/>
              </a:spcBef>
              <a:spcAft>
                <a:spcPts val="0"/>
              </a:spcAft>
              <a:buNone/>
            </a:pPr>
            <a:endParaRPr sz="1800">
              <a:solidFill>
                <a:schemeClr val="dk1"/>
              </a:solidFill>
              <a:latin typeface="Calibri"/>
              <a:ea typeface="Calibri"/>
              <a:cs typeface="Calibri"/>
              <a:sym typeface="Calibri"/>
            </a:endParaRPr>
          </a:p>
          <a:p>
            <a:pPr marL="285750" marR="0" lvl="0" indent="-285750" algn="ctr"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Multi-sensor fusion</a:t>
            </a:r>
            <a:endParaRPr/>
          </a:p>
          <a:p>
            <a:pPr marL="285750" marR="0" lvl="0" indent="-171450" algn="ctr" rtl="0">
              <a:spcBef>
                <a:spcPts val="0"/>
              </a:spcBef>
              <a:spcAft>
                <a:spcPts val="0"/>
              </a:spcAft>
              <a:buClr>
                <a:schemeClr val="dk1"/>
              </a:buClr>
              <a:buSzPts val="1800"/>
              <a:buFont typeface="Arial"/>
              <a:buNone/>
            </a:pPr>
            <a:endParaRPr sz="1800">
              <a:solidFill>
                <a:schemeClr val="lt1"/>
              </a:solidFill>
              <a:latin typeface="Calibri"/>
              <a:ea typeface="Calibri"/>
              <a:cs typeface="Calibri"/>
              <a:sym typeface="Calibri"/>
            </a:endParaRPr>
          </a:p>
          <a:p>
            <a:pPr marL="285750" marR="0" lvl="0" indent="-285750" algn="ctr"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Cloud dashboard integration</a:t>
            </a:r>
            <a:endParaRPr/>
          </a:p>
          <a:p>
            <a:pPr marL="285750" marR="0" lvl="0" indent="-171450" algn="ctr" rtl="0">
              <a:spcBef>
                <a:spcPts val="0"/>
              </a:spcBef>
              <a:spcAft>
                <a:spcPts val="0"/>
              </a:spcAft>
              <a:buClr>
                <a:schemeClr val="dk1"/>
              </a:buClr>
              <a:buSzPts val="1800"/>
              <a:buFont typeface="Arial"/>
              <a:buNone/>
            </a:pPr>
            <a:endParaRPr sz="1800">
              <a:solidFill>
                <a:schemeClr val="lt1"/>
              </a:solidFill>
              <a:latin typeface="Calibri"/>
              <a:ea typeface="Calibri"/>
              <a:cs typeface="Calibri"/>
              <a:sym typeface="Calibri"/>
            </a:endParaRPr>
          </a:p>
          <a:p>
            <a:pPr marL="285750" marR="0" lvl="0" indent="-285750" algn="ctr"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Testing with real industrial equipment</a:t>
            </a:r>
            <a:endParaRPr sz="1800">
              <a:solidFill>
                <a:schemeClr val="lt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28"/>
          <p:cNvSpPr txBox="1">
            <a:spLocks noGrp="1"/>
          </p:cNvSpPr>
          <p:nvPr>
            <p:ph type="title"/>
          </p:nvPr>
        </p:nvSpPr>
        <p:spPr>
          <a:xfrm>
            <a:off x="838200" y="365126"/>
            <a:ext cx="10515600" cy="90708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Conclusion</a:t>
            </a:r>
            <a:endParaRPr/>
          </a:p>
        </p:txBody>
      </p:sp>
      <p:sp>
        <p:nvSpPr>
          <p:cNvPr id="245" name="Google Shape;245;p28"/>
          <p:cNvSpPr txBox="1">
            <a:spLocks noGrp="1"/>
          </p:cNvSpPr>
          <p:nvPr>
            <p:ph type="body" idx="1"/>
          </p:nvPr>
        </p:nvSpPr>
        <p:spPr>
          <a:xfrm>
            <a:off x="838200" y="1272210"/>
            <a:ext cx="10515600" cy="4904753"/>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2800"/>
              <a:buChar char="•"/>
            </a:pPr>
            <a:r>
              <a:rPr lang="en-US" b="1"/>
              <a:t>Conclusion: </a:t>
            </a:r>
            <a:r>
              <a:rPr lang="en-US"/>
              <a:t>Successfully validated that complex frequency-domain features and predictive models can operate entirely on resource-constrained Edge IoT devices, maintaining high accuracy while eliminating cloud-latency.</a:t>
            </a:r>
            <a:endParaRPr/>
          </a:p>
          <a:p>
            <a:pPr marL="228600" lvl="0" indent="-50800" algn="just" rtl="0">
              <a:lnSpc>
                <a:spcPct val="90000"/>
              </a:lnSpc>
              <a:spcBef>
                <a:spcPts val="1000"/>
              </a:spcBef>
              <a:spcAft>
                <a:spcPts val="0"/>
              </a:spcAft>
              <a:buClr>
                <a:schemeClr val="dk1"/>
              </a:buClr>
              <a:buSzPts val="2800"/>
              <a:buNone/>
            </a:pPr>
            <a:endParaRPr/>
          </a:p>
          <a:p>
            <a:pPr marL="228600" lvl="0" indent="-228600" algn="just" rtl="0">
              <a:lnSpc>
                <a:spcPct val="90000"/>
              </a:lnSpc>
              <a:spcBef>
                <a:spcPts val="1000"/>
              </a:spcBef>
              <a:spcAft>
                <a:spcPts val="0"/>
              </a:spcAft>
              <a:buClr>
                <a:schemeClr val="dk1"/>
              </a:buClr>
              <a:buSzPts val="2800"/>
              <a:buChar char="•"/>
            </a:pPr>
            <a:r>
              <a:rPr lang="en-US" b="1"/>
              <a:t>Future Work: </a:t>
            </a:r>
            <a:endParaRPr/>
          </a:p>
          <a:p>
            <a:pPr marL="228600" lvl="0" indent="-228600" algn="just" rtl="0">
              <a:lnSpc>
                <a:spcPct val="90000"/>
              </a:lnSpc>
              <a:spcBef>
                <a:spcPts val="1000"/>
              </a:spcBef>
              <a:spcAft>
                <a:spcPts val="0"/>
              </a:spcAft>
              <a:buClr>
                <a:schemeClr val="dk1"/>
              </a:buClr>
              <a:buSzPts val="2800"/>
              <a:buChar char="•"/>
            </a:pPr>
            <a:r>
              <a:rPr lang="en-US"/>
              <a:t>Test with different open-source datasets related to motors. </a:t>
            </a:r>
            <a:endParaRPr/>
          </a:p>
          <a:p>
            <a:pPr marL="228600" lvl="0" indent="-228600" algn="just" rtl="0">
              <a:lnSpc>
                <a:spcPct val="90000"/>
              </a:lnSpc>
              <a:spcBef>
                <a:spcPts val="1000"/>
              </a:spcBef>
              <a:spcAft>
                <a:spcPts val="0"/>
              </a:spcAft>
              <a:buClr>
                <a:schemeClr val="dk1"/>
              </a:buClr>
              <a:buSzPts val="2800"/>
              <a:buChar char="•"/>
            </a:pPr>
            <a:r>
              <a:rPr lang="en-US"/>
              <a:t>Migrating from the CWRU simulation to physical hardware deployment by interfacing ADXL345 vibration sensors directly to the ESP32 on a live industrial motor rig.</a:t>
            </a:r>
            <a:endParaRPr/>
          </a:p>
        </p:txBody>
      </p:sp>
      <p:sp>
        <p:nvSpPr>
          <p:cNvPr id="246" name="Google Shape;246;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18-04-2026</a:t>
            </a:r>
            <a:endParaRPr/>
          </a:p>
        </p:txBody>
      </p:sp>
      <p:sp>
        <p:nvSpPr>
          <p:cNvPr id="247" name="Google Shape;2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29"/>
          <p:cNvSpPr txBox="1">
            <a:spLocks noGrp="1"/>
          </p:cNvSpPr>
          <p:nvPr>
            <p:ph type="title"/>
          </p:nvPr>
        </p:nvSpPr>
        <p:spPr>
          <a:xfrm>
            <a:off x="510209" y="136526"/>
            <a:ext cx="10363200" cy="94635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References</a:t>
            </a:r>
            <a:endParaRPr/>
          </a:p>
        </p:txBody>
      </p:sp>
      <p:sp>
        <p:nvSpPr>
          <p:cNvPr id="253" name="Google Shape;253;p29"/>
          <p:cNvSpPr txBox="1">
            <a:spLocks noGrp="1"/>
          </p:cNvSpPr>
          <p:nvPr>
            <p:ph type="body" idx="1"/>
          </p:nvPr>
        </p:nvSpPr>
        <p:spPr>
          <a:xfrm>
            <a:off x="838199" y="1262275"/>
            <a:ext cx="5459700" cy="4914600"/>
          </a:xfrm>
          <a:prstGeom prst="rect">
            <a:avLst/>
          </a:prstGeom>
          <a:noFill/>
          <a:ln>
            <a:noFill/>
          </a:ln>
        </p:spPr>
        <p:txBody>
          <a:bodyPr spcFirstLastPara="1" wrap="square" lIns="91425" tIns="45700" rIns="91425" bIns="45700" anchor="t" anchorCtr="0">
            <a:normAutofit fontScale="55000" lnSpcReduction="10000"/>
          </a:bodyPr>
          <a:lstStyle/>
          <a:p>
            <a:pPr marL="342900" lvl="0" indent="-335280" algn="l" rtl="0">
              <a:lnSpc>
                <a:spcPct val="90000"/>
              </a:lnSpc>
              <a:spcBef>
                <a:spcPts val="0"/>
              </a:spcBef>
              <a:spcAft>
                <a:spcPts val="0"/>
              </a:spcAft>
              <a:buClr>
                <a:schemeClr val="dk1"/>
              </a:buClr>
              <a:buSzPct val="100000"/>
              <a:buFont typeface="Calibri"/>
              <a:buAutoNum type="arabicPeriod"/>
            </a:pPr>
            <a:r>
              <a:rPr lang="en-US" sz="1600"/>
              <a:t>Achouch, M., Dimitrova, M., Ziane, K., Sattarpanah Karganroudi, S., Dhouib, R., Ibrahim, H., &amp; Adda, M. (2022). On Predictive Maintenance in Industry 4.0: Overview, Models, and Challenges. In Applied Sciences (Switzerland) (Vol. 12, Issue 16). MDPI. https://doi.org/10.3390/app12168081</a:t>
            </a:r>
            <a:endParaRPr/>
          </a:p>
          <a:p>
            <a:pPr marL="342900" lvl="0" indent="-279400" algn="l" rtl="0">
              <a:lnSpc>
                <a:spcPct val="90000"/>
              </a:lnSpc>
              <a:spcBef>
                <a:spcPts val="1000"/>
              </a:spcBef>
              <a:spcAft>
                <a:spcPts val="0"/>
              </a:spcAft>
              <a:buClr>
                <a:schemeClr val="dk1"/>
              </a:buClr>
              <a:buSzPct val="100000"/>
              <a:buFont typeface="Calibri"/>
              <a:buNone/>
            </a:pPr>
            <a:endParaRPr sz="1600"/>
          </a:p>
          <a:p>
            <a:pPr marL="342900" lvl="0" indent="-335280" algn="l" rtl="0">
              <a:lnSpc>
                <a:spcPct val="90000"/>
              </a:lnSpc>
              <a:spcBef>
                <a:spcPts val="1000"/>
              </a:spcBef>
              <a:spcAft>
                <a:spcPts val="0"/>
              </a:spcAft>
              <a:buClr>
                <a:schemeClr val="dk1"/>
              </a:buClr>
              <a:buSzPct val="100000"/>
              <a:buFont typeface="Calibri"/>
              <a:buAutoNum type="arabicPeriod"/>
            </a:pPr>
            <a:r>
              <a:rPr lang="en-US" sz="1600"/>
              <a:t>Aires, F. L., Galeno, G. D., Belchior, F. N., Oliveira, A. M., &amp; Hunt, J. D. (2025). Enhancing three-phase induction motor reliability with health index and artificial intelligence-driven predictive maintenance. Royal Society Open Science, 12(5). https://doi.org/10.1098/rsos.241946</a:t>
            </a:r>
            <a:endParaRPr/>
          </a:p>
          <a:p>
            <a:pPr marL="342900" lvl="0" indent="-279400" algn="l" rtl="0">
              <a:lnSpc>
                <a:spcPct val="90000"/>
              </a:lnSpc>
              <a:spcBef>
                <a:spcPts val="1000"/>
              </a:spcBef>
              <a:spcAft>
                <a:spcPts val="0"/>
              </a:spcAft>
              <a:buClr>
                <a:schemeClr val="dk1"/>
              </a:buClr>
              <a:buSzPct val="100000"/>
              <a:buFont typeface="Calibri"/>
              <a:buNone/>
            </a:pPr>
            <a:endParaRPr sz="1600"/>
          </a:p>
          <a:p>
            <a:pPr marL="342900" lvl="0" indent="-335280" algn="l" rtl="0">
              <a:lnSpc>
                <a:spcPct val="90000"/>
              </a:lnSpc>
              <a:spcBef>
                <a:spcPts val="1000"/>
              </a:spcBef>
              <a:spcAft>
                <a:spcPts val="0"/>
              </a:spcAft>
              <a:buClr>
                <a:schemeClr val="dk1"/>
              </a:buClr>
              <a:buSzPct val="100000"/>
              <a:buFont typeface="Calibri"/>
              <a:buAutoNum type="arabicPeriod"/>
            </a:pPr>
            <a:r>
              <a:rPr lang="en-US" sz="1600"/>
              <a:t>Artiushenko, V., Lang, S., Lerez, C., Reggelin, T., &amp; Hackert-Oschätzchen, M. (2024). Resource-efficient Edge AI solution for predictive maintenance. Procedia Computer Science, 232, 348–357. https://doi.org/10.1016/j.procs.2024.01.034</a:t>
            </a:r>
            <a:endParaRPr/>
          </a:p>
          <a:p>
            <a:pPr marL="342900" lvl="0" indent="-279400" algn="l" rtl="0">
              <a:lnSpc>
                <a:spcPct val="90000"/>
              </a:lnSpc>
              <a:spcBef>
                <a:spcPts val="1000"/>
              </a:spcBef>
              <a:spcAft>
                <a:spcPts val="0"/>
              </a:spcAft>
              <a:buClr>
                <a:schemeClr val="dk1"/>
              </a:buClr>
              <a:buSzPct val="100000"/>
              <a:buFont typeface="Calibri"/>
              <a:buNone/>
            </a:pPr>
            <a:endParaRPr sz="1600"/>
          </a:p>
          <a:p>
            <a:pPr marL="342900" lvl="0" indent="-335280" algn="l" rtl="0">
              <a:lnSpc>
                <a:spcPct val="90000"/>
              </a:lnSpc>
              <a:spcBef>
                <a:spcPts val="1000"/>
              </a:spcBef>
              <a:spcAft>
                <a:spcPts val="0"/>
              </a:spcAft>
              <a:buClr>
                <a:schemeClr val="dk1"/>
              </a:buClr>
              <a:buSzPct val="100000"/>
              <a:buFont typeface="Calibri"/>
              <a:buAutoNum type="arabicPeriod"/>
            </a:pPr>
            <a:r>
              <a:rPr lang="en-US" sz="1600"/>
              <a:t>Bharathi, Y. H. (n.d.). International Journal of INTELLIGENT SYSTEMS AND APPLICATIONS IN ENGINEERING Edge AI for Real-Time Motor Condition Monitoring in Smart Grids. In Original Research Paper International Journal of Intelligent Systems and Applications in Engineering IJISAE (Vol. 2024, Issue 23s). Retrieved www.ijisae.org</a:t>
            </a:r>
            <a:endParaRPr/>
          </a:p>
          <a:p>
            <a:pPr marL="342900" lvl="0" indent="-279400" algn="l" rtl="0">
              <a:lnSpc>
                <a:spcPct val="90000"/>
              </a:lnSpc>
              <a:spcBef>
                <a:spcPts val="1000"/>
              </a:spcBef>
              <a:spcAft>
                <a:spcPts val="0"/>
              </a:spcAft>
              <a:buClr>
                <a:schemeClr val="dk1"/>
              </a:buClr>
              <a:buSzPct val="100000"/>
              <a:buFont typeface="Calibri"/>
              <a:buNone/>
            </a:pPr>
            <a:endParaRPr sz="1600"/>
          </a:p>
          <a:p>
            <a:pPr marL="342900" lvl="0" indent="-335280" algn="l" rtl="0">
              <a:lnSpc>
                <a:spcPct val="90000"/>
              </a:lnSpc>
              <a:spcBef>
                <a:spcPts val="1000"/>
              </a:spcBef>
              <a:spcAft>
                <a:spcPts val="0"/>
              </a:spcAft>
              <a:buClr>
                <a:schemeClr val="dk1"/>
              </a:buClr>
              <a:buSzPct val="100000"/>
              <a:buFont typeface="Calibri"/>
              <a:buAutoNum type="arabicPeriod"/>
            </a:pPr>
            <a:r>
              <a:rPr lang="en-US" sz="1600"/>
              <a:t>Dey, S., &amp; Nagavalli, S. P. (2022). AI-Based Predictive Maintenance in Edge IoT Devices: A Proactive Approach to Latency Reduction. International Journal of Emerging Trends in Computer Science and Information Technology, 3(1), 55–64. https://doi.org/10.63282/3050-9246.ijetcsit-v3i1p107</a:t>
            </a:r>
            <a:endParaRPr/>
          </a:p>
          <a:p>
            <a:pPr marL="342900" lvl="0" indent="-279400" algn="l" rtl="0">
              <a:lnSpc>
                <a:spcPct val="90000"/>
              </a:lnSpc>
              <a:spcBef>
                <a:spcPts val="1000"/>
              </a:spcBef>
              <a:spcAft>
                <a:spcPts val="0"/>
              </a:spcAft>
              <a:buClr>
                <a:schemeClr val="dk1"/>
              </a:buClr>
              <a:buSzPct val="100000"/>
              <a:buFont typeface="Calibri"/>
              <a:buNone/>
            </a:pPr>
            <a:endParaRPr sz="1600"/>
          </a:p>
          <a:p>
            <a:pPr marL="342900" lvl="0" indent="-335280" algn="l" rtl="0">
              <a:lnSpc>
                <a:spcPct val="90000"/>
              </a:lnSpc>
              <a:spcBef>
                <a:spcPts val="1000"/>
              </a:spcBef>
              <a:spcAft>
                <a:spcPts val="0"/>
              </a:spcAft>
              <a:buClr>
                <a:schemeClr val="dk1"/>
              </a:buClr>
              <a:buSzPct val="100000"/>
              <a:buFont typeface="Calibri"/>
              <a:buAutoNum type="arabicPeriod"/>
            </a:pPr>
            <a:r>
              <a:rPr lang="en-US" sz="1600"/>
              <a:t>Drakaki, M., Karnavas, Y. L., Tzionas, P., &amp; Chasiotis, I. D. (2021). Recent Developments towards Industry 4.0 Oriented Predictive Maintenance in Induction Motors. Procedia Computer Science, 180, 943–949. https://doi.org/10.1016/j.procs.2021.01.345</a:t>
            </a:r>
            <a:endParaRPr/>
          </a:p>
          <a:p>
            <a:pPr marL="342900" lvl="0" indent="-279400" algn="l" rtl="0">
              <a:lnSpc>
                <a:spcPct val="90000"/>
              </a:lnSpc>
              <a:spcBef>
                <a:spcPts val="1000"/>
              </a:spcBef>
              <a:spcAft>
                <a:spcPts val="0"/>
              </a:spcAft>
              <a:buClr>
                <a:schemeClr val="dk1"/>
              </a:buClr>
              <a:buSzPct val="100000"/>
              <a:buFont typeface="Calibri"/>
              <a:buNone/>
            </a:pPr>
            <a:endParaRPr sz="1600"/>
          </a:p>
          <a:p>
            <a:pPr marL="342900" lvl="0" indent="-335280" algn="l" rtl="0">
              <a:lnSpc>
                <a:spcPct val="90000"/>
              </a:lnSpc>
              <a:spcBef>
                <a:spcPts val="1000"/>
              </a:spcBef>
              <a:spcAft>
                <a:spcPts val="0"/>
              </a:spcAft>
              <a:buClr>
                <a:schemeClr val="dk1"/>
              </a:buClr>
              <a:buSzPct val="100000"/>
              <a:buFont typeface="Calibri"/>
              <a:buAutoNum type="arabicPeriod"/>
            </a:pPr>
            <a:r>
              <a:rPr lang="en-US" sz="1600"/>
              <a:t>Hafeez, T., Xu, L., &amp; McArdle, G. (2021). Edge intelligence for data handling and predictive maintenance in IIoT. IEEE Access, 9, 49355–49371. https://doi.org/10.1109/ACCESS.2021.3069137</a:t>
            </a:r>
            <a:endParaRPr/>
          </a:p>
          <a:p>
            <a:pPr marL="0" lvl="0" indent="0" algn="l" rtl="0">
              <a:lnSpc>
                <a:spcPct val="90000"/>
              </a:lnSpc>
              <a:spcBef>
                <a:spcPts val="1000"/>
              </a:spcBef>
              <a:spcAft>
                <a:spcPts val="0"/>
              </a:spcAft>
              <a:buClr>
                <a:schemeClr val="dk1"/>
              </a:buClr>
              <a:buSzPct val="100000"/>
              <a:buFont typeface="Calibri"/>
              <a:buNone/>
            </a:pPr>
            <a:endParaRPr sz="1600"/>
          </a:p>
        </p:txBody>
      </p:sp>
      <p:sp>
        <p:nvSpPr>
          <p:cNvPr id="254" name="Google Shape;254;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18-04-2026</a:t>
            </a:r>
            <a:endParaRPr/>
          </a:p>
        </p:txBody>
      </p:sp>
      <p:sp>
        <p:nvSpPr>
          <p:cNvPr id="255" name="Google Shape;255;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
        <p:nvSpPr>
          <p:cNvPr id="256" name="Google Shape;256;p29"/>
          <p:cNvSpPr txBox="1">
            <a:spLocks noGrp="1"/>
          </p:cNvSpPr>
          <p:nvPr>
            <p:ph type="body" idx="1"/>
          </p:nvPr>
        </p:nvSpPr>
        <p:spPr>
          <a:xfrm>
            <a:off x="6297899" y="1262313"/>
            <a:ext cx="5459700" cy="4914600"/>
          </a:xfrm>
          <a:prstGeom prst="rect">
            <a:avLst/>
          </a:prstGeom>
          <a:noFill/>
          <a:ln>
            <a:noFill/>
          </a:ln>
        </p:spPr>
        <p:txBody>
          <a:bodyPr spcFirstLastPara="1" wrap="square" lIns="91425" tIns="45700" rIns="91425" bIns="45700" anchor="t" anchorCtr="0">
            <a:normAutofit fontScale="70000" lnSpcReduction="20000"/>
          </a:bodyPr>
          <a:lstStyle/>
          <a:p>
            <a:pPr marL="342900" lvl="0" indent="-350520" algn="l" rtl="0">
              <a:spcBef>
                <a:spcPts val="1000"/>
              </a:spcBef>
              <a:spcAft>
                <a:spcPts val="0"/>
              </a:spcAft>
              <a:buSzPct val="100000"/>
              <a:buFont typeface="Calibri"/>
              <a:buAutoNum type="arabicPeriod" startAt="8"/>
            </a:pPr>
            <a:r>
              <a:rPr lang="en-US" sz="1600"/>
              <a:t>Lamdjad, B., &amp; Chaiter, A. (2026). AI-Powered Predictive Maintenance and Prognostic Health Management Using Edge-Based Predictive Algorithms for Industrial Operations. https://doi.org/10.20944/preprints202603.0010.v1</a:t>
            </a:r>
            <a:endParaRPr/>
          </a:p>
          <a:p>
            <a:pPr marL="342900" lvl="0" indent="-279400" algn="l" rtl="0">
              <a:spcBef>
                <a:spcPts val="1000"/>
              </a:spcBef>
              <a:spcAft>
                <a:spcPts val="0"/>
              </a:spcAft>
              <a:buClr>
                <a:schemeClr val="dk1"/>
              </a:buClr>
              <a:buSzPct val="100000"/>
              <a:buFont typeface="Calibri"/>
              <a:buNone/>
            </a:pPr>
            <a:endParaRPr sz="1600"/>
          </a:p>
          <a:p>
            <a:pPr marL="342900" lvl="0" indent="-350520" algn="l" rtl="0">
              <a:spcBef>
                <a:spcPts val="1000"/>
              </a:spcBef>
              <a:spcAft>
                <a:spcPts val="0"/>
              </a:spcAft>
              <a:buSzPct val="100000"/>
              <a:buFont typeface="Calibri"/>
              <a:buAutoNum type="arabicPeriod" startAt="8"/>
            </a:pPr>
            <a:r>
              <a:rPr lang="en-US" sz="1600"/>
              <a:t>Lazzaro, A., D’Addona, D. M., &amp; Merenda, M. (2024). A Detailed Study on Algorithms for Predictive Maintenance in Smart Manufacturing: Chip Form Classification Using Edge Machine Learning. IEEE Open Journal of the Industrial Electronics Society, 5, 1190–1205. https://doi.org/10.1109/OJIES.2024.3484006</a:t>
            </a:r>
            <a:endParaRPr/>
          </a:p>
          <a:p>
            <a:pPr marL="342900" lvl="0" indent="-279400" algn="l" rtl="0">
              <a:spcBef>
                <a:spcPts val="1000"/>
              </a:spcBef>
              <a:spcAft>
                <a:spcPts val="0"/>
              </a:spcAft>
              <a:buClr>
                <a:schemeClr val="dk1"/>
              </a:buClr>
              <a:buSzPct val="100000"/>
              <a:buFont typeface="Calibri"/>
              <a:buNone/>
            </a:pPr>
            <a:endParaRPr sz="1600"/>
          </a:p>
          <a:p>
            <a:pPr marL="342900" lvl="0" indent="-350520" algn="l" rtl="0">
              <a:spcBef>
                <a:spcPts val="1000"/>
              </a:spcBef>
              <a:spcAft>
                <a:spcPts val="0"/>
              </a:spcAft>
              <a:buSzPct val="100000"/>
              <a:buFont typeface="Calibri"/>
              <a:buAutoNum type="arabicPeriod" startAt="8"/>
            </a:pPr>
            <a:r>
              <a:rPr lang="en-US" sz="1600"/>
              <a:t>Nunes, P., Santos, J., &amp; Rocha, E. (2023). Challenges in predictive maintenance – A review. In CIRP Journal of Manufacturing Science and Technology (Vol. 40, pp. 53–67). Elsevier Ltd. https://doi.org/10.1016/j.cirpj.2022.11.004</a:t>
            </a:r>
            <a:endParaRPr/>
          </a:p>
          <a:p>
            <a:pPr marL="342900" lvl="0" indent="-279400" algn="l" rtl="0">
              <a:spcBef>
                <a:spcPts val="1000"/>
              </a:spcBef>
              <a:spcAft>
                <a:spcPts val="0"/>
              </a:spcAft>
              <a:buClr>
                <a:schemeClr val="dk1"/>
              </a:buClr>
              <a:buSzPct val="100000"/>
              <a:buFont typeface="Calibri"/>
              <a:buNone/>
            </a:pPr>
            <a:endParaRPr sz="1600"/>
          </a:p>
          <a:p>
            <a:pPr marL="342900" lvl="0" indent="-350520" algn="l" rtl="0">
              <a:spcBef>
                <a:spcPts val="1000"/>
              </a:spcBef>
              <a:spcAft>
                <a:spcPts val="0"/>
              </a:spcAft>
              <a:buSzPct val="100000"/>
              <a:buFont typeface="Calibri"/>
              <a:buAutoNum type="arabicPeriod" startAt="8"/>
            </a:pPr>
            <a:r>
              <a:rPr lang="en-US" sz="1600"/>
              <a:t>Soni, K., &amp; Agrawal, M. (2025). AI Driven Predictive Maintenance at the Edge.</a:t>
            </a:r>
            <a:endParaRPr/>
          </a:p>
          <a:p>
            <a:pPr marL="342900" lvl="0" indent="-279400" algn="l" rtl="0">
              <a:spcBef>
                <a:spcPts val="1000"/>
              </a:spcBef>
              <a:spcAft>
                <a:spcPts val="0"/>
              </a:spcAft>
              <a:buClr>
                <a:schemeClr val="dk1"/>
              </a:buClr>
              <a:buSzPct val="100000"/>
              <a:buFont typeface="Calibri"/>
              <a:buNone/>
            </a:pPr>
            <a:endParaRPr sz="1600"/>
          </a:p>
          <a:p>
            <a:pPr marL="342900" lvl="0" indent="-350520" algn="l" rtl="0">
              <a:spcBef>
                <a:spcPts val="1000"/>
              </a:spcBef>
              <a:spcAft>
                <a:spcPts val="0"/>
              </a:spcAft>
              <a:buSzPct val="100000"/>
              <a:buFont typeface="Calibri"/>
              <a:buAutoNum type="arabicPeriod" startAt="8"/>
            </a:pPr>
            <a:r>
              <a:rPr lang="en-US" sz="1600"/>
              <a:t>Vermesan, O., &amp; Coppola, M. (2023). Embedded Edge Intelligent Processing for End-To-End Predictive Maintenance in Industrial Applications. In Industrial Artificial Intelligence Technologies and Applications (pp. 157–175). River Publishers. https://doi.org/10.1201/9781003377382-12</a:t>
            </a:r>
            <a:endParaRPr/>
          </a:p>
          <a:p>
            <a:pPr marL="342900" lvl="0" indent="-279400" algn="l" rtl="0">
              <a:spcBef>
                <a:spcPts val="1000"/>
              </a:spcBef>
              <a:spcAft>
                <a:spcPts val="0"/>
              </a:spcAft>
              <a:buClr>
                <a:schemeClr val="dk1"/>
              </a:buClr>
              <a:buSzPct val="100000"/>
              <a:buFont typeface="Calibri"/>
              <a:buNone/>
            </a:pPr>
            <a:endParaRPr sz="1600"/>
          </a:p>
          <a:p>
            <a:pPr marL="342900" lvl="0" indent="-350520" algn="l" rtl="0">
              <a:spcBef>
                <a:spcPts val="1000"/>
              </a:spcBef>
              <a:spcAft>
                <a:spcPts val="0"/>
              </a:spcAft>
              <a:buSzPct val="100000"/>
              <a:buFont typeface="Calibri"/>
              <a:buAutoNum type="arabicPeriod" startAt="8"/>
            </a:pPr>
            <a:r>
              <a:rPr lang="en-US" sz="1600"/>
              <a:t>Zhou, Z., Qiao, Y., Lin, X., Li, P., Wu, N., &amp; Yu, D. (2025). A Deployment Method for Motor Fault Diagnosis Application Based on Edge Intelligence. Sensors, 25(1). </a:t>
            </a:r>
            <a:r>
              <a:rPr lang="en-US" sz="1600" u="sng">
                <a:hlinkClick r:id="rId3"/>
              </a:rPr>
              <a:t>https://doi.org/10.3390/s25010009</a:t>
            </a:r>
            <a:endParaRPr sz="1600"/>
          </a:p>
          <a:p>
            <a:pPr marL="342900" lvl="0" indent="-279400" algn="l" rtl="0">
              <a:spcBef>
                <a:spcPts val="1000"/>
              </a:spcBef>
              <a:spcAft>
                <a:spcPts val="0"/>
              </a:spcAft>
              <a:buClr>
                <a:schemeClr val="dk1"/>
              </a:buClr>
              <a:buSzPct val="100000"/>
              <a:buFont typeface="Calibri"/>
              <a:buNone/>
            </a:pPr>
            <a:endParaRPr sz="1600"/>
          </a:p>
          <a:p>
            <a:pPr marL="342900" lvl="0" indent="-350520" algn="l" rtl="0">
              <a:spcBef>
                <a:spcPts val="1000"/>
              </a:spcBef>
              <a:spcAft>
                <a:spcPts val="0"/>
              </a:spcAft>
              <a:buSzPct val="100000"/>
              <a:buFont typeface="Calibri"/>
              <a:buAutoNum type="arabicPeriod" startAt="8"/>
            </a:pPr>
            <a:r>
              <a:rPr lang="en-US" sz="1600"/>
              <a:t>Dataset: CWRU </a:t>
            </a:r>
            <a:r>
              <a:rPr lang="en-US" sz="1600" u="sng">
                <a:hlinkClick r:id="rId4"/>
              </a:rPr>
              <a:t>Download a Data File | Case School of Engineering</a:t>
            </a:r>
            <a:endParaRPr sz="1600"/>
          </a:p>
          <a:p>
            <a:pPr marL="0" lvl="0" indent="0" algn="l" rtl="0">
              <a:lnSpc>
                <a:spcPct val="90000"/>
              </a:lnSpc>
              <a:spcBef>
                <a:spcPts val="1000"/>
              </a:spcBef>
              <a:spcAft>
                <a:spcPts val="0"/>
              </a:spcAft>
              <a:buClr>
                <a:schemeClr val="dk1"/>
              </a:buClr>
              <a:buSzPct val="100000"/>
              <a:buFont typeface="Calibri"/>
              <a:buNone/>
            </a:pPr>
            <a:endParaRPr sz="16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5400"/>
              <a:buNone/>
            </a:pPr>
            <a:r>
              <a:rPr lang="en-US" sz="5400"/>
              <a:t>Thank you </a:t>
            </a:r>
            <a:endParaRPr/>
          </a:p>
        </p:txBody>
      </p:sp>
      <p:sp>
        <p:nvSpPr>
          <p:cNvPr id="262" name="Google Shape;262;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18-04-2026</a:t>
            </a:r>
            <a:endParaRPr/>
          </a:p>
        </p:txBody>
      </p:sp>
      <p:sp>
        <p:nvSpPr>
          <p:cNvPr id="263" name="Google Shape;26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2038</Words>
  <Application>Microsoft Office PowerPoint</Application>
  <PresentationFormat>Widescreen</PresentationFormat>
  <Paragraphs>281</Paragraphs>
  <Slides>18</Slides>
  <Notes>18</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Noto Sans Symbols</vt:lpstr>
      <vt:lpstr>Office Theme</vt:lpstr>
      <vt:lpstr>PowerPoint Presentation</vt:lpstr>
      <vt:lpstr>Table of Contents:</vt:lpstr>
      <vt:lpstr>Introduction</vt:lpstr>
      <vt:lpstr>Objective of the Project</vt:lpstr>
      <vt:lpstr>Proposed Model</vt:lpstr>
      <vt:lpstr>Methodology</vt:lpstr>
      <vt:lpstr>Methodology Continued…</vt:lpstr>
      <vt:lpstr>Timeline of the project</vt:lpstr>
      <vt:lpstr>Literature Survey</vt:lpstr>
      <vt:lpstr>Work Done</vt:lpstr>
      <vt:lpstr>Results and discussion</vt:lpstr>
      <vt:lpstr>Results and discussions</vt:lpstr>
      <vt:lpstr>Results and Discussions Continued…</vt:lpstr>
      <vt:lpstr>Results and Discussions Continued…</vt:lpstr>
      <vt:lpstr>Conclusion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kartik burele</cp:lastModifiedBy>
  <cp:revision>1</cp:revision>
  <dcterms:modified xsi:type="dcterms:W3CDTF">2026-05-25T18:13:04Z</dcterms:modified>
</cp:coreProperties>
</file>