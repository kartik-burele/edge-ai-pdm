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5" r:id="rId6"/>
    <p:sldId id="265" r:id="rId7"/>
    <p:sldId id="274" r:id="rId8"/>
    <p:sldId id="261" r:id="rId9"/>
    <p:sldId id="267" r:id="rId10"/>
    <p:sldId id="278" r:id="rId11"/>
    <p:sldId id="270" r:id="rId12"/>
    <p:sldId id="277" r:id="rId13"/>
    <p:sldId id="276" r:id="rId14"/>
    <p:sldId id="279" r:id="rId15"/>
    <p:sldId id="263" r:id="rId16"/>
    <p:sldId id="26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7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3218AD-74E9-4252-B911-4B421BF1F79F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56934E-70FA-4538-A02C-6D23660C6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84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5F833-FD87-4C0B-B19E-0EEA0F7149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EAF8CD-850D-45E0-82ED-2F7C0035F8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23C84-E8C5-4846-A3B6-F53CBE102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5F512-8975-4BF3-A04B-98EEB0D21E15}" type="datetime1">
              <a:rPr lang="en-IN" smtClean="0"/>
              <a:t>25-05-2026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72C71-F2F6-4185-A103-08F238CC3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36786-FF11-41DE-9AEA-BF1ABA1B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04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D3A4D-F3B1-48B9-8834-4D6D472A8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58398-07AC-44C0-A909-8F91E398F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0F943-F6C6-414F-8AD9-58FCFA595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25-05-2026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ED9E8-DFCE-4391-AFE9-300AE50EE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9070B-76F5-4F3D-829C-DB33BC3FA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76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03F05-3A63-43D8-B450-33CAC4AB9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BB4826-18BE-4F9B-8ED6-AA48862E6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670F7-E122-4FB0-89B2-1A4F5701C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163F-D23F-463C-B7DE-B2FD934A9656}" type="datetime1">
              <a:rPr lang="en-IN" smtClean="0"/>
              <a:t>25-05-2026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3980D-79AF-41B0-8147-B4D5D5357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0DFA1-581F-49E4-80F8-F671307D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606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B54DC-A7B1-4A82-BF4E-CD9A4A8CF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1A98F-7F4E-4086-BCE6-C2C7B35B22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A60124-7398-4CD8-9BA5-CB1489C3B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2ACA8-59B0-4CA6-8F2F-21F7EA6FF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59D0-08B6-41E6-A77E-0AB9D1CBE992}" type="datetime1">
              <a:rPr lang="en-IN" smtClean="0"/>
              <a:t>25-05-2026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1D7EF0-FDA5-499D-A42A-BB96F066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582E9-838A-4C8B-995A-FA354E823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265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AA151-9245-4905-9D04-E01B28653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5456DE-7078-4A09-B1FC-332B12083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1D2B8E-5C3B-440B-9566-55ED3839F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78245B-623A-410D-8299-97434EB6EC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8A3143-545C-421B-A771-6A3D5A40AE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8B06B-8699-453B-80B3-B8ED934D3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8C209-D96D-4E88-BCA6-C7B1F5B6F67D}" type="datetime1">
              <a:rPr lang="en-IN" smtClean="0"/>
              <a:t>25-05-2026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27E698-43CF-4B64-8961-23C845BD7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6B1C1D-7EAE-44B0-B079-E19B8E95F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995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D0E4-F932-4869-8292-3EA9134D4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FA3DD-6849-4041-8BC4-462FFF002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BCCD8-300D-489E-B16E-CD0157CA398A}" type="datetime1">
              <a:rPr lang="en-IN" smtClean="0"/>
              <a:t>25-05-2026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131E75-C543-4B2B-9D06-D69E391C0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3931D5-7CDB-4EFC-914A-C62F5F4D7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199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7BC45F-D911-4A2F-8D4A-C76C586CD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77FEE-8C5F-48A0-B865-7E44A2B97634}" type="datetime1">
              <a:rPr lang="en-IN" smtClean="0"/>
              <a:t>25-05-2026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985E18-3514-40E5-A4DD-59B052B4A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71229-796E-45AD-BC92-19BAE6C2A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66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DF082-8381-44F8-8FE1-5DBE8142A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27A1A-AFC7-4F86-9374-5A9619898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A547F1-FB22-41CC-A54B-91767E7EF1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DB0A0-1C19-4790-98CA-7DB15ECFA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FA16-036E-472F-8379-EF89E947FEE4}" type="datetime1">
              <a:rPr lang="en-IN" smtClean="0"/>
              <a:t>25-05-2026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5CBFC-F8A8-4430-BF23-EEF269DCF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2F3DB-1542-4644-AF95-BDD0BA042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151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F6B9E-7BE4-4D7D-BDF2-38DC49B8B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901643-6CD6-430F-933B-20C3D9DA8E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9B045C-08DC-4868-9BD1-B7283DA8E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B3F41F-AB2A-445E-90C3-8149A8ED2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162D2-E495-459D-B029-0B8D717FB320}" type="datetime1">
              <a:rPr lang="en-IN" smtClean="0"/>
              <a:t>25-05-2026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143E3-89F1-4F9B-9903-DE84C0FC4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44BF-7726-459B-B93C-82DB21501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267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30983-DB16-40D6-865A-95C781867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C535B4-1089-4F12-8096-ABD0133DC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9BB8A-B9BD-4F46-9505-213342703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62F26-2809-44A2-B21A-22C99EDF5019}" type="datetime1">
              <a:rPr lang="en-IN" smtClean="0"/>
              <a:t>25-05-2026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6A347-F599-419A-B1C0-878FD302E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DAF1B-6EB0-4339-AD3D-4261F8ADE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466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CB76D3-1E1D-4744-915B-805D750FB1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73687-08DB-4197-A813-3D213CE39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97CE5-06E5-422F-8AC8-2D257C834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624F4-7690-47E0-859F-BAD76B859654}" type="datetime1">
              <a:rPr lang="en-IN" smtClean="0"/>
              <a:t>25-05-2026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95DD9-F734-4D3B-9DA3-5382A0DE5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74D7E-353D-4B1D-896B-881EA29B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834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B53F13-050A-48A2-BE84-DEF1ADE1F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93F9F-1D59-4E2B-B8C9-C279F07E7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DDD72-6978-41D6-B319-B390EBB1D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0C17A-1D3B-4747-8E76-739B3EB99950}" type="datetime1">
              <a:rPr lang="en-IN" smtClean="0"/>
              <a:t>25-05-2026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075CA-4C0F-4CC1-87F7-D1CFAFFF33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AB675-CC97-4C84-A206-A97AF21C0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62C7C-9FA6-4436-90F7-C7370BED1EB3}" type="slidenum">
              <a:rPr lang="en-US" smtClean="0"/>
              <a:pPr/>
              <a:t>‹#›</a:t>
            </a:fld>
            <a:r>
              <a:rPr lang="en-US"/>
              <a:t>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57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ngineering.case.edu/bearingdatacenter/download-data-file" TargetMode="External"/><Relationship Id="rId2" Type="http://schemas.openxmlformats.org/officeDocument/2006/relationships/hyperlink" Target="https://doi.org/10.3390/s25010009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eeexplore.ieee.org/document/11363866" TargetMode="External"/><Relationship Id="rId4" Type="http://schemas.openxmlformats.org/officeDocument/2006/relationships/hyperlink" Target="https://zenodo.org/records/15522163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of a national institute of technology&#10;&#10;Description automatically generated">
            <a:extLst>
              <a:ext uri="{FF2B5EF4-FFF2-40B4-BE49-F238E27FC236}">
                <a16:creationId xmlns:a16="http://schemas.microsoft.com/office/drawing/2014/main" id="{0836F0EA-D4C7-0822-44C4-05C129DBC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825" y="375458"/>
            <a:ext cx="1026825" cy="10268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3C0998-21F0-E3C1-F812-EE94F9B7CC2B}"/>
              </a:ext>
            </a:extLst>
          </p:cNvPr>
          <p:cNvSpPr txBox="1"/>
          <p:nvPr/>
        </p:nvSpPr>
        <p:spPr>
          <a:xfrm>
            <a:off x="2653249" y="504151"/>
            <a:ext cx="68855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+mj-lt"/>
              </a:rPr>
              <a:t>Visvesvaraya National Institute of Technology, Nagpur</a:t>
            </a:r>
          </a:p>
          <a:p>
            <a:pPr algn="ctr"/>
            <a:r>
              <a:rPr lang="en-US" sz="2000" b="1" dirty="0">
                <a:latin typeface="+mj-lt"/>
              </a:rPr>
              <a:t>Electronics and Communication Engineering Department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436944-9102-B8DD-4937-53CE23F863CD}"/>
              </a:ext>
            </a:extLst>
          </p:cNvPr>
          <p:cNvCxnSpPr/>
          <p:nvPr/>
        </p:nvCxnSpPr>
        <p:spPr>
          <a:xfrm>
            <a:off x="408781" y="2466200"/>
            <a:ext cx="110477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4CC8E6D-9AC9-207F-5269-04FCA0C97961}"/>
              </a:ext>
            </a:extLst>
          </p:cNvPr>
          <p:cNvSpPr txBox="1"/>
          <p:nvPr/>
        </p:nvSpPr>
        <p:spPr>
          <a:xfrm>
            <a:off x="1010935" y="2810598"/>
            <a:ext cx="101701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/>
              <a:t>Edge AI based Predictive Maintenance of Industrial Motors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3C08EE-8491-1D44-274A-D679D012EA7B}"/>
              </a:ext>
            </a:extLst>
          </p:cNvPr>
          <p:cNvSpPr txBox="1"/>
          <p:nvPr/>
        </p:nvSpPr>
        <p:spPr>
          <a:xfrm>
            <a:off x="2975307" y="3909576"/>
            <a:ext cx="6405984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Presented by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</a:rPr>
              <a:t>Kartik Burele (MT24AAC011)</a:t>
            </a:r>
          </a:p>
          <a:p>
            <a:pPr algn="ctr"/>
            <a:r>
              <a:rPr lang="en-US" sz="2000" b="1" dirty="0"/>
              <a:t>Embedded Software Engineer @ L &amp; T Technology Services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6906C1-A200-6BB6-2FA3-502611F915AB}"/>
              </a:ext>
            </a:extLst>
          </p:cNvPr>
          <p:cNvSpPr txBox="1"/>
          <p:nvPr/>
        </p:nvSpPr>
        <p:spPr>
          <a:xfrm>
            <a:off x="4849026" y="5400139"/>
            <a:ext cx="2658548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Under the supervision of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</a:rPr>
              <a:t>Dr. Mansi A. Radke </a:t>
            </a:r>
            <a:br>
              <a:rPr lang="en-US" sz="2400" b="1" dirty="0">
                <a:solidFill>
                  <a:srgbClr val="002060"/>
                </a:solidFill>
              </a:rPr>
            </a:br>
            <a:r>
              <a:rPr lang="en-US" b="1" dirty="0">
                <a:solidFill>
                  <a:srgbClr val="002060"/>
                </a:solidFill>
              </a:rPr>
              <a:t>Asst. Professor</a:t>
            </a:r>
          </a:p>
          <a:p>
            <a:pPr algn="ctr"/>
            <a:r>
              <a:rPr lang="en-US" sz="2400" b="1" dirty="0"/>
              <a:t>VNIT Nagpur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2113255-FBC0-1E35-5573-1F719584E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D5500-71C4-4001-8F33-8C22722166F3}" type="datetime1">
              <a:rPr lang="en-IN" smtClean="0"/>
              <a:t>25-05-2026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6B8CB38-AB1E-3F70-E960-86C496A5F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DE005E-64E3-E478-B34F-E79F94A13EA5}"/>
              </a:ext>
            </a:extLst>
          </p:cNvPr>
          <p:cNvSpPr txBox="1"/>
          <p:nvPr/>
        </p:nvSpPr>
        <p:spPr>
          <a:xfrm>
            <a:off x="3048762" y="1450537"/>
            <a:ext cx="60944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u="sng" dirty="0"/>
              <a:t>Executive </a:t>
            </a:r>
            <a:r>
              <a:rPr lang="en-US" sz="2000" b="1" u="sng" dirty="0" err="1"/>
              <a:t>M.Tech</a:t>
            </a:r>
            <a:r>
              <a:rPr lang="en-US" sz="2000" b="1" u="sng" dirty="0"/>
              <a:t>. in Applied AI and Communications</a:t>
            </a:r>
          </a:p>
          <a:p>
            <a:pPr algn="ctr"/>
            <a:r>
              <a:rPr lang="en-US" sz="2000" b="1" u="sng" dirty="0"/>
              <a:t>Cohort 3B sem. 3, Summer 2026</a:t>
            </a:r>
          </a:p>
          <a:p>
            <a:pPr algn="ctr"/>
            <a:r>
              <a:rPr lang="en-US" sz="2000" b="1" u="sng" dirty="0"/>
              <a:t>Eval. 3 (24/05/2026)</a:t>
            </a:r>
          </a:p>
        </p:txBody>
      </p:sp>
    </p:spTree>
    <p:extLst>
      <p:ext uri="{BB962C8B-B14F-4D97-AF65-F5344CB8AC3E}">
        <p14:creationId xmlns:p14="http://schemas.microsoft.com/office/powerpoint/2010/main" val="1500752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78DC1-2314-1936-E491-A2AA6117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83446-B031-65D4-C2BF-E38ADC696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Objective of the Project</a:t>
            </a:r>
          </a:p>
          <a:p>
            <a:r>
              <a:rPr lang="en-US" dirty="0"/>
              <a:t>Proposed Model</a:t>
            </a:r>
          </a:p>
          <a:p>
            <a:r>
              <a:rPr lang="en-US" dirty="0"/>
              <a:t>Methodology</a:t>
            </a:r>
          </a:p>
          <a:p>
            <a:r>
              <a:rPr lang="en-US" dirty="0"/>
              <a:t>Timeline of the Project</a:t>
            </a:r>
          </a:p>
          <a:p>
            <a:r>
              <a:rPr lang="en-US" dirty="0"/>
              <a:t>Literature Survey</a:t>
            </a:r>
          </a:p>
          <a:p>
            <a:r>
              <a:rPr lang="en-US" dirty="0"/>
              <a:t>Work Done</a:t>
            </a:r>
          </a:p>
          <a:p>
            <a:r>
              <a:rPr lang="en-US" dirty="0"/>
              <a:t>Results and Discussion</a:t>
            </a:r>
          </a:p>
          <a:p>
            <a:r>
              <a:rPr lang="en-US" dirty="0"/>
              <a:t>Conclusion</a:t>
            </a:r>
          </a:p>
          <a:p>
            <a:r>
              <a:rPr lang="en-US" dirty="0"/>
              <a:t>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EAE4-7B8A-1BB4-7A82-30D1B7070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25-05-2026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5E49F3-1CC0-B691-D400-C0CD39A42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238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81843-B53B-E0B7-2406-AAA2AAA7F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CB015-3B0B-52FB-DD1A-3EE8D91A2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782"/>
            <a:ext cx="7560365" cy="5014567"/>
          </a:xfrm>
        </p:spPr>
        <p:txBody>
          <a:bodyPr>
            <a:normAutofit fontScale="85000" lnSpcReduction="10000"/>
          </a:bodyPr>
          <a:lstStyle/>
          <a:p>
            <a:r>
              <a:rPr lang="en-US" sz="1600" b="1" i="1" u="sng" dirty="0"/>
              <a:t>Overview</a:t>
            </a:r>
          </a:p>
          <a:p>
            <a:pPr marL="0" indent="0">
              <a:buNone/>
            </a:pPr>
            <a:r>
              <a:rPr lang="en-US" sz="1600" dirty="0"/>
              <a:t>Industrial motors are critical components in manufacturing systems. Unexpected failures can lead to:</a:t>
            </a:r>
          </a:p>
          <a:p>
            <a:r>
              <a:rPr lang="en-US" sz="1600" dirty="0"/>
              <a:t>Production downtime</a:t>
            </a:r>
          </a:p>
          <a:p>
            <a:r>
              <a:rPr lang="en-US" sz="1600" dirty="0"/>
              <a:t>Maintenance cost</a:t>
            </a:r>
          </a:p>
          <a:p>
            <a:r>
              <a:rPr lang="en-US" sz="1600" dirty="0"/>
              <a:t>Safety hazards</a:t>
            </a:r>
          </a:p>
          <a:p>
            <a:pPr marL="0" indent="0">
              <a:buNone/>
            </a:pPr>
            <a:r>
              <a:rPr lang="en-US" sz="1600" dirty="0"/>
              <a:t>Traditional maintenance strategies include:</a:t>
            </a:r>
          </a:p>
          <a:p>
            <a:r>
              <a:rPr lang="en-US" sz="1600" dirty="0"/>
              <a:t>Reactive maintenance (repair after failure)</a:t>
            </a:r>
          </a:p>
          <a:p>
            <a:r>
              <a:rPr lang="en-US" sz="1600" dirty="0"/>
              <a:t>Preventive maintenance (scheduled replacement)</a:t>
            </a:r>
          </a:p>
          <a:p>
            <a:pPr marL="0" indent="0">
              <a:buNone/>
            </a:pPr>
            <a:r>
              <a:rPr lang="en-US" sz="1600" dirty="0"/>
              <a:t>These methods are inefficient and often lead to unnecessary downtime.</a:t>
            </a:r>
          </a:p>
          <a:p>
            <a:r>
              <a:rPr lang="en-US" sz="1600" b="1" i="1" u="sng" dirty="0"/>
              <a:t>Motivation</a:t>
            </a:r>
          </a:p>
          <a:p>
            <a:pPr marL="0" indent="0">
              <a:buNone/>
            </a:pPr>
            <a:r>
              <a:rPr lang="en-US" sz="1600" dirty="0"/>
              <a:t>Predictive maintenance uses </a:t>
            </a:r>
            <a:r>
              <a:rPr lang="en-US" sz="1600" b="1" dirty="0"/>
              <a:t>sensor data and machine learning</a:t>
            </a:r>
            <a:r>
              <a:rPr lang="en-US" sz="1600" dirty="0"/>
              <a:t> to detect faults before failure occurs.</a:t>
            </a:r>
          </a:p>
          <a:p>
            <a:pPr marL="0" indent="0">
              <a:buNone/>
            </a:pPr>
            <a:r>
              <a:rPr lang="en-US" sz="1600" dirty="0"/>
              <a:t>Key benefits:</a:t>
            </a:r>
          </a:p>
          <a:p>
            <a:r>
              <a:rPr lang="en-US" sz="1600" dirty="0"/>
              <a:t>Reduced downtime</a:t>
            </a:r>
          </a:p>
          <a:p>
            <a:r>
              <a:rPr lang="en-US" sz="1600" dirty="0"/>
              <a:t>Lower maintenance cost</a:t>
            </a:r>
          </a:p>
          <a:p>
            <a:r>
              <a:rPr lang="en-US" sz="1600" dirty="0"/>
              <a:t>Increased equipment lifespan</a:t>
            </a:r>
          </a:p>
          <a:p>
            <a:pPr marL="0" indent="0">
              <a:buNone/>
            </a:pPr>
            <a:r>
              <a:rPr lang="en-US" sz="1600" dirty="0"/>
              <a:t>Edge AI enables </a:t>
            </a:r>
            <a:r>
              <a:rPr lang="en-US" sz="1600" b="1" dirty="0"/>
              <a:t>real-time monitoring directly on embedded devices</a:t>
            </a:r>
            <a:r>
              <a:rPr lang="en-US" sz="1600" dirty="0"/>
              <a:t>, eliminating the need for cloud processing.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BB601-FBC2-B8E9-2FB1-0DE4D9B2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25-05-2026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31EA7-2FE7-15EE-F4AF-F046C7457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3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984B9D0-A1A2-4590-85C8-A729D5F6D815}"/>
              </a:ext>
            </a:extLst>
          </p:cNvPr>
          <p:cNvSpPr/>
          <p:nvPr/>
        </p:nvSpPr>
        <p:spPr>
          <a:xfrm>
            <a:off x="8610600" y="1776630"/>
            <a:ext cx="3197087" cy="33047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i="1" u="sng" dirty="0">
                <a:solidFill>
                  <a:schemeClr val="tx1"/>
                </a:solidFill>
              </a:rPr>
              <a:t>Research Gap</a:t>
            </a:r>
          </a:p>
          <a:p>
            <a:r>
              <a:rPr lang="en-US" sz="1600" dirty="0"/>
              <a:t>Many existing systems rely 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Cloud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High-cost industrial monitoring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dirty="0"/>
              <a:t>There is a need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Low-cost embedded AI 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Real-time fault detection at the edge</a:t>
            </a:r>
          </a:p>
          <a:p>
            <a:endParaRPr lang="en-IN" sz="1600" dirty="0"/>
          </a:p>
          <a:p>
            <a:pPr algn="ctr"/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051692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ADF40-F19A-D2C4-F90B-6FECAFED0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5D0E4-AD5D-FDC4-B83F-60970BD27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primary objective of this project is to develop an </a:t>
            </a:r>
            <a:r>
              <a:rPr lang="en-US" b="1" dirty="0"/>
              <a:t>Edge AI based predictive maintenance system for industrial motors</a:t>
            </a:r>
            <a:r>
              <a:rPr lang="en-US" b="1" dirty="0">
                <a:highlight>
                  <a:srgbClr val="FFFF00"/>
                </a:highlight>
              </a:rPr>
              <a:t>(BLDC)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i="1" u="sng" dirty="0"/>
              <a:t>Specific Objectives:</a:t>
            </a:r>
          </a:p>
          <a:p>
            <a:r>
              <a:rPr lang="en-US" dirty="0"/>
              <a:t>Collect vibration and temperature data from industrial motors using sensors</a:t>
            </a:r>
          </a:p>
          <a:p>
            <a:r>
              <a:rPr lang="en-US" dirty="0"/>
              <a:t>Develop a machine learning model to classify motor operating conditions</a:t>
            </a:r>
          </a:p>
          <a:p>
            <a:r>
              <a:rPr lang="en-US" dirty="0"/>
              <a:t>Deploy the trained model on an embedded device for real-time monitoring</a:t>
            </a:r>
          </a:p>
          <a:p>
            <a:r>
              <a:rPr lang="en-US" dirty="0"/>
              <a:t>Detect faults such as imbalance, misalignment, and bearing faults, </a:t>
            </a:r>
            <a:r>
              <a:rPr lang="en-US" dirty="0">
                <a:highlight>
                  <a:srgbClr val="FFFF00"/>
                </a:highlight>
              </a:rPr>
              <a:t>electrical, mechanical and combined damage</a:t>
            </a:r>
          </a:p>
          <a:p>
            <a:r>
              <a:rPr lang="en-US" dirty="0"/>
              <a:t>Reduce equipment downtime through early fault detection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E45DA-79AD-441F-6D6A-F73E02765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25-05-2026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1713A-7AC8-8392-67DB-8688851C2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177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11BDE-A387-12CC-F505-8E04DFFFB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2" y="198230"/>
            <a:ext cx="10515600" cy="1325563"/>
          </a:xfrm>
        </p:spPr>
        <p:txBody>
          <a:bodyPr/>
          <a:lstStyle/>
          <a:p>
            <a:r>
              <a:rPr lang="en-US" dirty="0"/>
              <a:t>Proposed Model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AF46D-6352-D0FE-7225-3099957EF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25-05-2026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A1174-EC12-3755-D427-2E7008343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9249ED-0D4F-40C8-8BCA-2D378A5DAF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152" y="208634"/>
            <a:ext cx="6503029" cy="650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15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CB3B4-63A1-72FB-2015-1F7B55998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2824D-545B-13DF-AC2F-091358AEF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25-05-2026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E515A-4C89-966E-5CBA-AE4BBDB5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3DCFEB-19FE-4671-BB52-48066D7C0EC6}"/>
              </a:ext>
            </a:extLst>
          </p:cNvPr>
          <p:cNvSpPr/>
          <p:nvPr/>
        </p:nvSpPr>
        <p:spPr>
          <a:xfrm>
            <a:off x="139150" y="2254354"/>
            <a:ext cx="2334039" cy="39557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Data Acquisition</a:t>
            </a:r>
          </a:p>
          <a:p>
            <a:pPr algn="ctr"/>
            <a:endParaRPr lang="en-US" dirty="0"/>
          </a:p>
          <a:p>
            <a:pPr algn="ctr"/>
            <a:r>
              <a:rPr lang="en-US" sz="1400" i="1" u="sng" dirty="0"/>
              <a:t>Sensor data will be collected from industrial motors using: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Vibration sensors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Temperature sensors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>
                <a:solidFill>
                  <a:schemeClr val="tx1"/>
                </a:solidFill>
                <a:highlight>
                  <a:srgbClr val="FFFF00"/>
                </a:highlight>
              </a:rPr>
              <a:t>Current sensors</a:t>
            </a:r>
          </a:p>
          <a:p>
            <a:pPr algn="ctr"/>
            <a:endParaRPr lang="en-US" sz="14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  <a:highlight>
                  <a:srgbClr val="FFFF00"/>
                </a:highlight>
              </a:rPr>
              <a:t>Encoder/Speed sensors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The signals represent motor operating conditions.</a:t>
            </a:r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84143C-895F-4E7A-8ED5-FADFACC856FC}"/>
              </a:ext>
            </a:extLst>
          </p:cNvPr>
          <p:cNvSpPr txBox="1"/>
          <p:nvPr/>
        </p:nvSpPr>
        <p:spPr>
          <a:xfrm>
            <a:off x="509379" y="1608022"/>
            <a:ext cx="68679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project methodology consists of five major stages.</a:t>
            </a:r>
          </a:p>
          <a:p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9DD274-2FD7-47F1-BB89-132619AAA2E8}"/>
              </a:ext>
            </a:extLst>
          </p:cNvPr>
          <p:cNvSpPr/>
          <p:nvPr/>
        </p:nvSpPr>
        <p:spPr>
          <a:xfrm>
            <a:off x="2686879" y="2254354"/>
            <a:ext cx="2334039" cy="39557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Preprocessing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i="1" u="sng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Raw signals will undergo: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Noise filtering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Fast Fourier Transform (FFT)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Feature extraction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i="1" u="sng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Features include: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RMS vibration/ 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RMS current</a:t>
            </a: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Kurtosis/ 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Kurtosis current</a:t>
            </a: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Spectral entropy/ 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Spectral entropy current</a:t>
            </a:r>
          </a:p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Standard speed ripples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804AC8-4387-4080-AE5D-93FEB5EB90DF}"/>
              </a:ext>
            </a:extLst>
          </p:cNvPr>
          <p:cNvSpPr/>
          <p:nvPr/>
        </p:nvSpPr>
        <p:spPr>
          <a:xfrm>
            <a:off x="5234609" y="2254354"/>
            <a:ext cx="2334039" cy="39557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 Training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i="1" u="sng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Machine learning models will be trained using Python libraries such as: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Scikit</a:t>
            </a:r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-learn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TensorFlow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i="1" u="sng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Models evaluated: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Random Forest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Support Vector Machine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CNN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2BF94F-81A6-478E-BE05-97AE4E188CE6}"/>
              </a:ext>
            </a:extLst>
          </p:cNvPr>
          <p:cNvSpPr/>
          <p:nvPr/>
        </p:nvSpPr>
        <p:spPr>
          <a:xfrm>
            <a:off x="7782339" y="2254354"/>
            <a:ext cx="2017646" cy="3934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 Deployment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i="1" u="sng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trained model will be converted to: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TensorFlow Lite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deployed on an embedded device for real-time inference.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EA5A19-308E-470C-893A-E767885823EA}"/>
              </a:ext>
            </a:extLst>
          </p:cNvPr>
          <p:cNvSpPr/>
          <p:nvPr/>
        </p:nvSpPr>
        <p:spPr>
          <a:xfrm>
            <a:off x="10013676" y="2254353"/>
            <a:ext cx="2017646" cy="3934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Fault Detection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i="1" u="sng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system will classify motor conditions into: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Normal operation</a:t>
            </a: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Imbalance</a:t>
            </a: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Misalignment</a:t>
            </a:r>
          </a:p>
          <a:p>
            <a:pPr algn="ctr"/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Bearing fault /</a:t>
            </a:r>
          </a:p>
          <a:p>
            <a:pPr algn="ctr"/>
            <a:endParaRPr lang="en-US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Healthy</a:t>
            </a:r>
          </a:p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Mechanical Damage</a:t>
            </a:r>
          </a:p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Electrical Damage</a:t>
            </a:r>
          </a:p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Combined Damage</a:t>
            </a:r>
            <a:endParaRPr lang="en-IN" sz="10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E90C409-8188-430D-98B0-A8DE84BC2466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2473189" y="4232241"/>
            <a:ext cx="2136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4128BD-82AD-4B44-B05A-AEBE6EA5245B}"/>
              </a:ext>
            </a:extLst>
          </p:cNvPr>
          <p:cNvCxnSpPr/>
          <p:nvPr/>
        </p:nvCxnSpPr>
        <p:spPr>
          <a:xfrm>
            <a:off x="5020919" y="4233725"/>
            <a:ext cx="2136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7AD98D-D02D-4960-9E2F-0A1A51329646}"/>
              </a:ext>
            </a:extLst>
          </p:cNvPr>
          <p:cNvCxnSpPr/>
          <p:nvPr/>
        </p:nvCxnSpPr>
        <p:spPr>
          <a:xfrm>
            <a:off x="7568649" y="4232241"/>
            <a:ext cx="2136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0484155-4047-4EA6-8AE3-FD35C85BAD01}"/>
              </a:ext>
            </a:extLst>
          </p:cNvPr>
          <p:cNvCxnSpPr/>
          <p:nvPr/>
        </p:nvCxnSpPr>
        <p:spPr>
          <a:xfrm>
            <a:off x="9799986" y="4223786"/>
            <a:ext cx="2136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817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62431-6C71-48A4-AC2D-CFD1CFFDA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8179"/>
          </a:xfrm>
        </p:spPr>
        <p:txBody>
          <a:bodyPr/>
          <a:lstStyle/>
          <a:p>
            <a:r>
              <a:rPr lang="en-US" dirty="0"/>
              <a:t>Methodology Continued…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378EE-7B98-4CDC-AA17-A8A6F81A2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25-05-2026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FB4630-A8CF-42AF-8837-5B5F4FB6C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2CF8C1-F597-419A-8C1D-7D0BBCC06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88682"/>
            <a:ext cx="9576507" cy="547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26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A12CDE-6AA6-417C-B217-F5F98A2DA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644" y="0"/>
            <a:ext cx="572774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540912-4C78-DD2D-0E07-FEABCF7D4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08" y="136525"/>
            <a:ext cx="4472610" cy="746471"/>
          </a:xfrm>
        </p:spPr>
        <p:txBody>
          <a:bodyPr>
            <a:normAutofit fontScale="90000"/>
          </a:bodyPr>
          <a:lstStyle/>
          <a:p>
            <a:r>
              <a:rPr lang="en-US" dirty="0"/>
              <a:t>Timeline of the project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60860-8BC4-2948-19A4-344A852B6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25-05-2026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1B0629-6098-89B0-A771-7C08AB637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8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FCDAE89-6EE9-4CE3-A916-55CC24E24DB8}"/>
              </a:ext>
            </a:extLst>
          </p:cNvPr>
          <p:cNvGrpSpPr/>
          <p:nvPr/>
        </p:nvGrpSpPr>
        <p:grpSpPr>
          <a:xfrm>
            <a:off x="8149570" y="283695"/>
            <a:ext cx="220980" cy="586740"/>
            <a:chOff x="0" y="0"/>
            <a:chExt cx="220980" cy="586740"/>
          </a:xfrm>
        </p:grpSpPr>
        <p:sp>
          <p:nvSpPr>
            <p:cNvPr id="13" name="Wave 12">
              <a:extLst>
                <a:ext uri="{FF2B5EF4-FFF2-40B4-BE49-F238E27FC236}">
                  <a16:creationId xmlns:a16="http://schemas.microsoft.com/office/drawing/2014/main" id="{4CF06ED9-AD5E-4886-B239-F4F1538B0FB9}"/>
                </a:ext>
              </a:extLst>
            </p:cNvPr>
            <p:cNvSpPr/>
            <p:nvPr/>
          </p:nvSpPr>
          <p:spPr>
            <a:xfrm>
              <a:off x="0" y="0"/>
              <a:ext cx="220980" cy="144780"/>
            </a:xfrm>
            <a:prstGeom prst="wav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IN" sz="1100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4E0F648-3287-4389-BB14-A5CC8CC432E7}"/>
                </a:ext>
              </a:extLst>
            </p:cNvPr>
            <p:cNvCxnSpPr>
              <a:stCxn id="13" idx="1"/>
            </p:cNvCxnSpPr>
            <p:nvPr/>
          </p:nvCxnSpPr>
          <p:spPr>
            <a:xfrm>
              <a:off x="0" y="72390"/>
              <a:ext cx="7620" cy="5143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82562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B88FD-2E46-441D-B3D7-C5F882DED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6EE93-66E6-463C-A6DE-94591694A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1478"/>
            <a:ext cx="10515600" cy="4964871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Predictive Maintenance (</a:t>
            </a:r>
            <a:r>
              <a:rPr lang="en-US" sz="2000" dirty="0" err="1"/>
              <a:t>PdM</a:t>
            </a:r>
            <a:r>
              <a:rPr lang="en-US" sz="2000" dirty="0"/>
              <a:t>) has become an important strategy in </a:t>
            </a:r>
            <a:r>
              <a:rPr lang="en-US" sz="2000" b="1" dirty="0"/>
              <a:t>Industry 4.0</a:t>
            </a:r>
            <a:r>
              <a:rPr lang="en-US" sz="2000" dirty="0"/>
              <a:t> to reduce equipment downtime and improve production efficiency using sensor data and machine learning models. </a:t>
            </a:r>
          </a:p>
          <a:p>
            <a:r>
              <a:rPr lang="en-US" sz="2000" dirty="0"/>
              <a:t>AI techniques such as </a:t>
            </a:r>
            <a:r>
              <a:rPr lang="en-US" sz="2000" b="1" dirty="0"/>
              <a:t>machine learning, deep learning, and time-series forecasting</a:t>
            </a:r>
            <a:r>
              <a:rPr lang="en-US" sz="2000" dirty="0"/>
              <a:t> enable early detection of faults by </a:t>
            </a:r>
            <a:r>
              <a:rPr lang="en-US" sz="2000" dirty="0" err="1"/>
              <a:t>analysing</a:t>
            </a:r>
            <a:r>
              <a:rPr lang="en-US" sz="2000" dirty="0"/>
              <a:t> historical operational data from industrial machines. </a:t>
            </a:r>
          </a:p>
          <a:p>
            <a:r>
              <a:rPr lang="en-US" sz="2000" dirty="0"/>
              <a:t>Studies show that predictive maintenance systems can reduce maintenance costs by </a:t>
            </a:r>
            <a:r>
              <a:rPr lang="en-US" sz="2000" b="1" dirty="0"/>
              <a:t>15–70%</a:t>
            </a:r>
            <a:r>
              <a:rPr lang="en-US" sz="2000" dirty="0"/>
              <a:t> while improving system reliability and safety in manufacturing environments. </a:t>
            </a:r>
          </a:p>
          <a:p>
            <a:r>
              <a:rPr lang="en-US" sz="2000" dirty="0"/>
              <a:t>Traditional predictive maintenance architectures rely heavily on </a:t>
            </a:r>
            <a:r>
              <a:rPr lang="en-US" sz="2000" b="1" dirty="0"/>
              <a:t>cloud-based processing</a:t>
            </a:r>
            <a:r>
              <a:rPr lang="en-US" sz="2000" dirty="0"/>
              <a:t>, which may introduce latency and large data transmission overhead in industrial environments.</a:t>
            </a:r>
          </a:p>
          <a:p>
            <a:r>
              <a:rPr lang="en-US" sz="2000" dirty="0"/>
              <a:t>Edge AI enables </a:t>
            </a:r>
            <a:r>
              <a:rPr lang="en-US" sz="2000" b="1" dirty="0"/>
              <a:t>local processing of sensor data near industrial equipment</a:t>
            </a:r>
            <a:r>
              <a:rPr lang="en-US" sz="2000" dirty="0"/>
              <a:t>, significantly reducing latency and bandwidth consumption compared to centralized cloud solutions. </a:t>
            </a:r>
          </a:p>
          <a:p>
            <a:r>
              <a:rPr lang="en-US" sz="2000" dirty="0"/>
              <a:t>Research on </a:t>
            </a:r>
            <a:r>
              <a:rPr lang="en-US" sz="2000" b="1" dirty="0"/>
              <a:t>Edge AI for motor condition monitoring</a:t>
            </a:r>
            <a:r>
              <a:rPr lang="en-US" sz="2000" dirty="0"/>
              <a:t> demonstrates that edge-based systems can reduce diagnostic latency by more than </a:t>
            </a:r>
            <a:r>
              <a:rPr lang="en-US" sz="2000" b="1" dirty="0"/>
              <a:t>70% while achieving fault detection accuracy above 94%</a:t>
            </a:r>
            <a:r>
              <a:rPr lang="en-US" sz="2000" dirty="0"/>
              <a:t>. </a:t>
            </a:r>
          </a:p>
          <a:p>
            <a:r>
              <a:rPr lang="en-US" sz="2000" dirty="0"/>
              <a:t>Embedded AI models deployed on </a:t>
            </a:r>
            <a:r>
              <a:rPr lang="en-US" sz="2000" b="1" dirty="0"/>
              <a:t>microcontrollers and </a:t>
            </a:r>
            <a:r>
              <a:rPr lang="en-US" sz="2000" b="1" dirty="0" err="1"/>
              <a:t>IIoT</a:t>
            </a:r>
            <a:r>
              <a:rPr lang="en-US" sz="2000" b="1" dirty="0"/>
              <a:t> edge devices</a:t>
            </a:r>
            <a:r>
              <a:rPr lang="en-US" sz="2000" dirty="0"/>
              <a:t> allow real-time monitoring of vibration, temperature, and electrical signals of industrial motors. </a:t>
            </a:r>
          </a:p>
          <a:p>
            <a:r>
              <a:rPr lang="en-US" sz="2000" dirty="0"/>
              <a:t>Several machine learning models including </a:t>
            </a:r>
            <a:r>
              <a:rPr lang="en-US" sz="2000" b="1" dirty="0"/>
              <a:t>SVM, Random Forest, Neural Networks, and k-NN</a:t>
            </a:r>
            <a:r>
              <a:rPr lang="en-US" sz="2000" dirty="0"/>
              <a:t> have been tested for predictive maintenance tasks in industrial manufacturing systems.</a:t>
            </a:r>
          </a:p>
          <a:p>
            <a:endParaRPr lang="en-US" sz="2000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73B6A-703D-4FC5-A0F8-7F0D27FA7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25-05-2026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0A6903-A07E-4401-8341-BFC3131F4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57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0AC35-FE15-4F07-B95B-11004B329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6353"/>
          </a:xfrm>
        </p:spPr>
        <p:txBody>
          <a:bodyPr/>
          <a:lstStyle/>
          <a:p>
            <a:r>
              <a:rPr lang="en-IN" dirty="0">
                <a:highlight>
                  <a:srgbClr val="FFFF00"/>
                </a:highlight>
              </a:rPr>
              <a:t>Work Done Continued…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1D938-2F03-44F1-8E7D-97B63B9E0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1478"/>
            <a:ext cx="10515600" cy="4785485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Data Acquisition:</a:t>
            </a:r>
          </a:p>
          <a:p>
            <a:pPr lvl="1"/>
            <a:r>
              <a:rPr lang="en-US" dirty="0"/>
              <a:t>Transitioned to the international-standard DUDU-BLDC Motor Dataset to analyze electromagnetic (magnet/winding) degradation and physical load anomalies.</a:t>
            </a:r>
          </a:p>
          <a:p>
            <a:pPr lvl="1"/>
            <a:r>
              <a:rPr lang="en-US" dirty="0"/>
              <a:t>Acquired co-dependent high-frequency stator current (A) and rotational speed (RPM) telemetry across 4 states: </a:t>
            </a:r>
            <a:r>
              <a:rPr lang="en-US" dirty="0">
                <a:solidFill>
                  <a:srgbClr val="00B050"/>
                </a:solidFill>
              </a:rPr>
              <a:t>Healthy</a:t>
            </a:r>
            <a:r>
              <a:rPr lang="en-US" dirty="0"/>
              <a:t>, </a:t>
            </a:r>
            <a:r>
              <a:rPr lang="en-US" dirty="0">
                <a:solidFill>
                  <a:schemeClr val="accent2"/>
                </a:solidFill>
              </a:rPr>
              <a:t>Mechanical Damage</a:t>
            </a:r>
            <a:r>
              <a:rPr lang="en-US" dirty="0"/>
              <a:t>, </a:t>
            </a:r>
            <a:r>
              <a:rPr lang="en-US" dirty="0">
                <a:solidFill>
                  <a:schemeClr val="accent4"/>
                </a:solidFill>
              </a:rPr>
              <a:t>Electrical Damage</a:t>
            </a:r>
            <a:r>
              <a:rPr lang="en-US" dirty="0"/>
              <a:t>, and </a:t>
            </a:r>
            <a:r>
              <a:rPr lang="en-US" dirty="0">
                <a:solidFill>
                  <a:srgbClr val="FF0000"/>
                </a:solidFill>
              </a:rPr>
              <a:t>Combined Mech-Elec Damage</a:t>
            </a:r>
            <a:r>
              <a:rPr lang="en-US" dirty="0"/>
              <a:t>.</a:t>
            </a:r>
          </a:p>
          <a:p>
            <a:pPr marL="228600" lvl="1">
              <a:spcBef>
                <a:spcPts val="1000"/>
              </a:spcBef>
            </a:pPr>
            <a:r>
              <a:rPr lang="en-US" sz="2800" b="1" dirty="0"/>
              <a:t>Data Preprocessing:</a:t>
            </a:r>
          </a:p>
          <a:p>
            <a:pPr lvl="1"/>
            <a:r>
              <a:rPr lang="en-US" dirty="0"/>
              <a:t>Implemented 10x Python decimation (</a:t>
            </a:r>
            <a:r>
              <a:rPr lang="en-US" dirty="0" err="1"/>
              <a:t>downsampling</a:t>
            </a:r>
            <a:r>
              <a:rPr lang="en-US" dirty="0"/>
              <a:t> 50 kHz to 5 kHz) and strict 1024-sample windowing to capture ~204.8 ms of shaft dynamics.</a:t>
            </a:r>
          </a:p>
          <a:p>
            <a:pPr lvl="1"/>
            <a:r>
              <a:rPr lang="en-US" dirty="0"/>
              <a:t>Extracted 6 core features: Current RMS, Current Kurtosis, Mean Speed, Speed Ripple (Std Dev), Current Spectral Entropy, and Current Peak Frequency.</a:t>
            </a:r>
          </a:p>
          <a:p>
            <a:pPr lvl="1"/>
            <a:r>
              <a:rPr lang="en-US" dirty="0"/>
              <a:t>Key Edge Constraint: Reduced raw signals to a lightweight 213-byte feature payload (&lt;1KB Edge Invariant), guaranteeing low-latency transmission.</a:t>
            </a:r>
          </a:p>
          <a:p>
            <a:pPr marL="228600" lvl="1">
              <a:spcBef>
                <a:spcPts val="1000"/>
              </a:spcBef>
            </a:pPr>
            <a:r>
              <a:rPr lang="en-US" sz="2800" b="1" dirty="0"/>
              <a:t>Model Training &amp; Quantization:</a:t>
            </a:r>
          </a:p>
          <a:p>
            <a:pPr lvl="1"/>
            <a:r>
              <a:rPr lang="en-US" dirty="0"/>
              <a:t>We trained two distinct models optimized for microcontrollers:</a:t>
            </a:r>
          </a:p>
          <a:p>
            <a:pPr lvl="1"/>
            <a:r>
              <a:rPr lang="en-US" dirty="0"/>
              <a:t>A Random Forest model transpiled entirely into pure C code (.c header) for bare-metal execution.</a:t>
            </a:r>
          </a:p>
          <a:p>
            <a:pPr lvl="1"/>
            <a:r>
              <a:rPr lang="en-US" dirty="0"/>
              <a:t>A TensorFlow Lite Neural Network aggressively quantized to INT8 to drastically reduce memory footprint.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1006D-1CFA-4EEC-9832-CC634DAE9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25-05-2026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1C769F-B41B-402B-BFB5-CA81B80DF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541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80F91-4802-49D3-881E-476982D4C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6779"/>
          </a:xfrm>
        </p:spPr>
        <p:txBody>
          <a:bodyPr/>
          <a:lstStyle/>
          <a:p>
            <a:r>
              <a:rPr lang="en-IN" dirty="0"/>
              <a:t>Results and discussions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E00E2-D546-4928-8A8C-94AC3F470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1904"/>
            <a:ext cx="10515600" cy="485505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1. ESP32 Hardware Deployment (</a:t>
            </a:r>
            <a:r>
              <a:rPr lang="en-US" b="1" dirty="0" err="1"/>
              <a:t>Wokwi</a:t>
            </a:r>
            <a:r>
              <a:rPr lang="en-US" b="1" dirty="0"/>
              <a:t> Simulation):</a:t>
            </a:r>
          </a:p>
          <a:p>
            <a:pPr lvl="1"/>
            <a:r>
              <a:rPr lang="en-US" dirty="0"/>
              <a:t>Successfully deployed the compiled C-based ML model onto a simulated ESP32 microcontroller.</a:t>
            </a:r>
          </a:p>
          <a:p>
            <a:pPr lvl="1"/>
            <a:r>
              <a:rPr lang="en-US" dirty="0"/>
              <a:t>Achieved real-time inference (in microseconds) directly on the edge hardware without relying on any cloud API.</a:t>
            </a:r>
          </a:p>
          <a:p>
            <a:pPr marL="0" indent="0">
              <a:buNone/>
            </a:pPr>
            <a:r>
              <a:rPr lang="en-US" b="1" dirty="0"/>
              <a:t>2. Streamlit “Digital Twin” Dashboard:</a:t>
            </a:r>
          </a:p>
          <a:p>
            <a:pPr lvl="1"/>
            <a:r>
              <a:rPr lang="en-US" dirty="0"/>
              <a:t>Developed a fully functional web dashboard that loads the quantized </a:t>
            </a:r>
            <a:r>
              <a:rPr lang="en-US" dirty="0" err="1"/>
              <a:t>edge_model.tflite</a:t>
            </a:r>
            <a:r>
              <a:rPr lang="en-US" dirty="0"/>
              <a:t> model.</a:t>
            </a:r>
          </a:p>
          <a:p>
            <a:pPr lvl="1"/>
            <a:r>
              <a:rPr lang="en-US" dirty="0"/>
              <a:t>Evaluates simulated real-time telemetry, plotting continuous Telemetry Trends (Vibration &amp; Entropy) and visualizing Model Confidence Distributions.</a:t>
            </a:r>
          </a:p>
          <a:p>
            <a:pPr marL="0" indent="0">
              <a:buNone/>
            </a:pPr>
            <a:r>
              <a:rPr lang="en-US" b="1" dirty="0"/>
              <a:t>3. Implementation of Smart Alerting Rules:</a:t>
            </a:r>
          </a:p>
          <a:p>
            <a:pPr lvl="1"/>
            <a:r>
              <a:rPr lang="en-US" dirty="0"/>
              <a:t>Built dynamic thresholding: If the model's prediction confidence drops below 75%, the system safely flags the state as "Uncertain" rather than triggering a false-positive factory alarm.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688B3-2C55-4933-8649-7620733A0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25-05-2026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E7ED2-6C47-4090-81C5-7CF74EDDD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130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8CB27-CBCF-4A14-BB92-70BEC1630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67936"/>
          </a:xfrm>
        </p:spPr>
        <p:txBody>
          <a:bodyPr/>
          <a:lstStyle/>
          <a:p>
            <a:r>
              <a:rPr lang="en-IN" dirty="0">
                <a:highlight>
                  <a:srgbClr val="FFFF00"/>
                </a:highlight>
              </a:rPr>
              <a:t>Results and Discussions Continued…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8AF74-C528-41B7-BD8F-AE081035A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25-05-2026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7CE06D-B248-4462-A493-C29306C71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16FFBBC3-7044-457B-B4BD-0312516B65E2}"/>
              </a:ext>
            </a:extLst>
          </p:cNvPr>
          <p:cNvSpPr/>
          <p:nvPr/>
        </p:nvSpPr>
        <p:spPr>
          <a:xfrm>
            <a:off x="725557" y="1669222"/>
            <a:ext cx="5118652" cy="4731026"/>
          </a:xfrm>
          <a:prstGeom prst="snip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/>
              <a:t>MODEL 1:</a:t>
            </a:r>
            <a:r>
              <a:rPr lang="en-US" dirty="0"/>
              <a:t> INT8 Quantized TensorFlow Lite Neural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Overall validation Accuracy: 64.10%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Latency: ~0.010 ms per sample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Footprint: 3.08 KB</a:t>
            </a:r>
          </a:p>
          <a:p>
            <a:pPr algn="ctr"/>
            <a:endParaRPr lang="en-IN" dirty="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D87B8131-CB8F-444B-ADA6-2C2E3BB9309E}"/>
              </a:ext>
            </a:extLst>
          </p:cNvPr>
          <p:cNvSpPr/>
          <p:nvPr/>
        </p:nvSpPr>
        <p:spPr>
          <a:xfrm>
            <a:off x="6347793" y="1669222"/>
            <a:ext cx="5118652" cy="4731026"/>
          </a:xfrm>
          <a:prstGeom prst="snip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/>
              <a:t>MODEL 2:</a:t>
            </a:r>
            <a:r>
              <a:rPr lang="en-US" dirty="0"/>
              <a:t> Embedded Random Forest (Pure C-Transpiled)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Overall Accuracy: 76.92%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Latency: ~0.005 ms per sample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Footprint: ~901 KB (Raw C Array footprint)</a:t>
            </a:r>
          </a:p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D24406-6722-4582-80A8-7DA02000A0B2}"/>
              </a:ext>
            </a:extLst>
          </p:cNvPr>
          <p:cNvSpPr/>
          <p:nvPr/>
        </p:nvSpPr>
        <p:spPr>
          <a:xfrm>
            <a:off x="725555" y="992114"/>
            <a:ext cx="7914861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Model Comparison and Trade-off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i="1" dirty="0"/>
              <a:t>Rigorous 80/20 Train/Test Split on 620/156 telemetry windows.</a:t>
            </a:r>
            <a:endParaRPr lang="en-IN" sz="2000" dirty="0"/>
          </a:p>
        </p:txBody>
      </p:sp>
      <p:sp>
        <p:nvSpPr>
          <p:cNvPr id="9" name="Callout: Line 8">
            <a:extLst>
              <a:ext uri="{FF2B5EF4-FFF2-40B4-BE49-F238E27FC236}">
                <a16:creationId xmlns:a16="http://schemas.microsoft.com/office/drawing/2014/main" id="{CA463D58-6072-42E4-8B48-E5BA836B0A09}"/>
              </a:ext>
            </a:extLst>
          </p:cNvPr>
          <p:cNvSpPr/>
          <p:nvPr/>
        </p:nvSpPr>
        <p:spPr>
          <a:xfrm>
            <a:off x="1835428" y="4732613"/>
            <a:ext cx="4260572" cy="1899410"/>
          </a:xfrm>
          <a:prstGeom prst="borderCallout1">
            <a:avLst>
              <a:gd name="adj1" fmla="val 18750"/>
              <a:gd name="adj2" fmla="val -8333"/>
              <a:gd name="adj3" fmla="val 38440"/>
              <a:gd name="adj4" fmla="val -3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dirty="0"/>
              <a:t>Verdict: Extremely compact and lightweight in flash memory. While highly efficient for storage-constrained edge environments, the dense neural network has lower accuracy on tabular current/speed statistical boundaries compared to the ensemble method.</a:t>
            </a:r>
          </a:p>
        </p:txBody>
      </p:sp>
      <p:sp>
        <p:nvSpPr>
          <p:cNvPr id="10" name="Callout: Line 9">
            <a:extLst>
              <a:ext uri="{FF2B5EF4-FFF2-40B4-BE49-F238E27FC236}">
                <a16:creationId xmlns:a16="http://schemas.microsoft.com/office/drawing/2014/main" id="{46798640-3109-475C-8500-C71B2A150C34}"/>
              </a:ext>
            </a:extLst>
          </p:cNvPr>
          <p:cNvSpPr/>
          <p:nvPr/>
        </p:nvSpPr>
        <p:spPr>
          <a:xfrm>
            <a:off x="7402286" y="4648200"/>
            <a:ext cx="4713514" cy="2209800"/>
          </a:xfrm>
          <a:prstGeom prst="borderCallout1">
            <a:avLst>
              <a:gd name="adj1" fmla="val 18750"/>
              <a:gd name="adj2" fmla="val -8333"/>
              <a:gd name="adj3" fmla="val 38440"/>
              <a:gd name="adj4" fmla="val -3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dirty="0"/>
              <a:t>Verdict: The primary model candidate. It achieves a 12.8% higher diagnostic accuracy and boasts unbeatable execution speed because it compiles into direct, raw hardware instructions. The footprint size is larger (~901KB source file) because it represents 50 decision trees of depth 10, which easily fits within the ESP32’s 4MB flash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0667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AA47F-3AF4-4F4E-B646-07A280AF2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192" y="0"/>
            <a:ext cx="10515600" cy="668545"/>
          </a:xfrm>
        </p:spPr>
        <p:txBody>
          <a:bodyPr>
            <a:normAutofit fontScale="90000"/>
          </a:bodyPr>
          <a:lstStyle/>
          <a:p>
            <a:r>
              <a:rPr lang="en-IN" dirty="0">
                <a:highlight>
                  <a:srgbClr val="FFFF00"/>
                </a:highlight>
              </a:rPr>
              <a:t>Results and Discussions Continued…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67290-35CD-4803-A097-2642ABA3A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25-05-2026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6007A-449E-46D6-8BCD-67328C58A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13</a:t>
            </a:fld>
            <a:endParaRPr lang="en-US"/>
          </a:p>
        </p:txBody>
      </p:sp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4F030968-F0F5-4545-8AFD-FB0478537124}"/>
              </a:ext>
            </a:extLst>
          </p:cNvPr>
          <p:cNvSpPr/>
          <p:nvPr/>
        </p:nvSpPr>
        <p:spPr>
          <a:xfrm>
            <a:off x="6956424" y="737002"/>
            <a:ext cx="4102514" cy="1560443"/>
          </a:xfrm>
          <a:prstGeom prst="snip2Diag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Simulation: Random Forrest model deployed over ESP32 </a:t>
            </a:r>
          </a:p>
        </p:txBody>
      </p:sp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4C1D732D-D4AE-4FB2-834A-83569554765E}"/>
              </a:ext>
            </a:extLst>
          </p:cNvPr>
          <p:cNvSpPr/>
          <p:nvPr/>
        </p:nvSpPr>
        <p:spPr>
          <a:xfrm>
            <a:off x="1272207" y="4462670"/>
            <a:ext cx="4102514" cy="1560443"/>
          </a:xfrm>
          <a:prstGeom prst="snip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Simulation: INT8 Quantized </a:t>
            </a:r>
            <a:r>
              <a:rPr lang="en-IN" dirty="0" err="1"/>
              <a:t>Tflite</a:t>
            </a:r>
            <a:r>
              <a:rPr lang="en-IN" dirty="0"/>
              <a:t> neural Network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E000C88-6C3D-40A9-AE9F-A31B1C4ED228}"/>
              </a:ext>
            </a:extLst>
          </p:cNvPr>
          <p:cNvCxnSpPr>
            <a:cxnSpLocks/>
            <a:stCxn id="11" idx="0"/>
          </p:cNvCxnSpPr>
          <p:nvPr/>
        </p:nvCxnSpPr>
        <p:spPr>
          <a:xfrm>
            <a:off x="5374721" y="5242892"/>
            <a:ext cx="49930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B616BF-DA54-4F0A-8C41-351D4F738D39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6460434" y="1517224"/>
            <a:ext cx="49599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63C981A-DF00-48B5-9D8E-D5886330B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207" y="812188"/>
            <a:ext cx="5216841" cy="31326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B899D4-11F6-4E31-814B-678F57478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026" y="3505200"/>
            <a:ext cx="6158320" cy="2939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452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F34A7-38E8-4D76-9D7A-52CE9DD1F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7084"/>
          </a:xfrm>
        </p:spPr>
        <p:txBody>
          <a:bodyPr/>
          <a:lstStyle/>
          <a:p>
            <a:r>
              <a:rPr lang="en-IN" dirty="0">
                <a:highlight>
                  <a:srgbClr val="FFFF00"/>
                </a:highlight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3EB38-8291-4B63-97CC-084CC806A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2210"/>
            <a:ext cx="10515600" cy="4904753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Conclusion: </a:t>
            </a:r>
          </a:p>
          <a:p>
            <a:r>
              <a:rPr lang="en-US" dirty="0"/>
              <a:t>Successfully validated that co-dependent current and rotational speed telemetry can be processed and diagnosed entirely on resource-constrained Edge IoT devices.</a:t>
            </a:r>
          </a:p>
          <a:p>
            <a:r>
              <a:rPr lang="en-US" dirty="0"/>
              <a:t>Proven that our edge-invariant preprocessing pipeline distills high-frequency waveforms into a lightweight </a:t>
            </a:r>
            <a:r>
              <a:rPr lang="en-US" b="1" dirty="0"/>
              <a:t>213-byte feature payload</a:t>
            </a:r>
            <a:r>
              <a:rPr lang="en-US" dirty="0"/>
              <a:t>, enabling real-time edge anomaly diagnostics.</a:t>
            </a:r>
          </a:p>
          <a:p>
            <a:r>
              <a:rPr lang="en-US" dirty="0"/>
              <a:t>Demonstrated that transpiled pure C models and INT8 quantized </a:t>
            </a:r>
            <a:r>
              <a:rPr lang="en-US" dirty="0" err="1"/>
              <a:t>TFLite</a:t>
            </a:r>
            <a:r>
              <a:rPr lang="en-US" dirty="0"/>
              <a:t> binaries can operate within microseconds on microcontrollers, eliminating cloud dependencies, bandwidth costs, and transmission latencies.</a:t>
            </a:r>
          </a:p>
          <a:p>
            <a:pPr algn="just"/>
            <a:r>
              <a:rPr lang="en-US" b="1" dirty="0"/>
              <a:t>Future Work: </a:t>
            </a:r>
          </a:p>
          <a:p>
            <a:r>
              <a:rPr lang="en-IN" b="1" dirty="0"/>
              <a:t>Physical Hardware-in-the-Loop (HIL) Integration</a:t>
            </a:r>
            <a:r>
              <a:rPr lang="en-IN" dirty="0"/>
              <a:t>: Interfacing physical Hall-effect current sensors (e.g., ACS712) and optical speed encoders directly to the ESP32 ADC pins on a live, physical BLDC motor rig.</a:t>
            </a:r>
          </a:p>
          <a:p>
            <a:r>
              <a:rPr lang="en-IN" b="1" dirty="0"/>
              <a:t>Multi-Sensor Fusion Development</a:t>
            </a:r>
            <a:r>
              <a:rPr lang="en-IN" dirty="0"/>
              <a:t>: Fusing current/speed electrical telemetry with physical vibration (MEMS accelerometer) and temperature inputs to build a comprehensive, multi-modal diagnostic engine.</a:t>
            </a:r>
          </a:p>
          <a:p>
            <a:r>
              <a:rPr lang="en-IN" b="1" dirty="0"/>
              <a:t>Wireless Telemetry Edge-Streaming</a:t>
            </a:r>
            <a:r>
              <a:rPr lang="en-IN" dirty="0"/>
              <a:t>: Implementing low-energy wireless protocols (BLE or Wi-Fi MQTT) to pipe live edge classifications and latency metrics from the physical microcontroller directly to our Streamlit Digital Twin dashboard.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0CA82-6259-4597-9EF9-D802020A0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25-05-2026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D3DB18-1487-417E-9896-150571339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86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69C45-C153-EEEE-4B34-25D029069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209" y="136526"/>
            <a:ext cx="10363200" cy="946358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62AB0-996D-1567-36E2-F27B9DFFC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2270"/>
            <a:ext cx="10949609" cy="4914693"/>
          </a:xfrm>
        </p:spPr>
        <p:txBody>
          <a:bodyPr numCol="2">
            <a:normAutofit fontScale="550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 err="1"/>
              <a:t>Achouch</a:t>
            </a:r>
            <a:r>
              <a:rPr lang="en-US" sz="1600" dirty="0"/>
              <a:t>, M., Dimitrova, M., </a:t>
            </a:r>
            <a:r>
              <a:rPr lang="en-US" sz="1600" dirty="0" err="1"/>
              <a:t>Ziane</a:t>
            </a:r>
            <a:r>
              <a:rPr lang="en-US" sz="1600" dirty="0"/>
              <a:t>, K., </a:t>
            </a:r>
            <a:r>
              <a:rPr lang="en-US" sz="1600" dirty="0" err="1"/>
              <a:t>Sattarpanah</a:t>
            </a:r>
            <a:r>
              <a:rPr lang="en-US" sz="1600" dirty="0"/>
              <a:t> </a:t>
            </a:r>
            <a:r>
              <a:rPr lang="en-US" sz="1600" dirty="0" err="1"/>
              <a:t>Karganroudi</a:t>
            </a:r>
            <a:r>
              <a:rPr lang="en-US" sz="1600" dirty="0"/>
              <a:t>, S., </a:t>
            </a:r>
            <a:r>
              <a:rPr lang="en-US" sz="1600" dirty="0" err="1"/>
              <a:t>Dhouib</a:t>
            </a:r>
            <a:r>
              <a:rPr lang="en-US" sz="1600" dirty="0"/>
              <a:t>, R., Ibrahim, H., &amp; </a:t>
            </a:r>
            <a:r>
              <a:rPr lang="en-US" sz="1600" dirty="0" err="1"/>
              <a:t>Adda</a:t>
            </a:r>
            <a:r>
              <a:rPr lang="en-US" sz="1600" dirty="0"/>
              <a:t>, M. (2022). On Predictive Maintenance in Industry 4.0: Overview, Models, and Challenges. In Applied Sciences (Switzerland) (Vol. 12, Issue 16). MDPI. https://doi.org/10.3390/app12168081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Aires, F. L., </a:t>
            </a:r>
            <a:r>
              <a:rPr lang="en-US" sz="1600" dirty="0" err="1"/>
              <a:t>Galeno</a:t>
            </a:r>
            <a:r>
              <a:rPr lang="en-US" sz="1600" dirty="0"/>
              <a:t>, G. D., </a:t>
            </a:r>
            <a:r>
              <a:rPr lang="en-US" sz="1600" dirty="0" err="1"/>
              <a:t>Belchior</a:t>
            </a:r>
            <a:r>
              <a:rPr lang="en-US" sz="1600" dirty="0"/>
              <a:t>, F. N., Oliveira, A. M., &amp; Hunt, J. D. (2025). Enhancing three-phase induction motor reliability with health index and artificial intelligence-driven predictive maintenance. Royal Society Open Science, 12(5). https://doi.org/10.1098/rsos.241946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 err="1"/>
              <a:t>Artiushenko</a:t>
            </a:r>
            <a:r>
              <a:rPr lang="en-US" sz="1600" dirty="0"/>
              <a:t>, V., Lang, S., </a:t>
            </a:r>
            <a:r>
              <a:rPr lang="en-US" sz="1600" dirty="0" err="1"/>
              <a:t>Lerez</a:t>
            </a:r>
            <a:r>
              <a:rPr lang="en-US" sz="1600" dirty="0"/>
              <a:t>, C., </a:t>
            </a:r>
            <a:r>
              <a:rPr lang="en-US" sz="1600" dirty="0" err="1"/>
              <a:t>Reggelin</a:t>
            </a:r>
            <a:r>
              <a:rPr lang="en-US" sz="1600" dirty="0"/>
              <a:t>, T., &amp; </a:t>
            </a:r>
            <a:r>
              <a:rPr lang="en-US" sz="1600" dirty="0" err="1"/>
              <a:t>Hackert-Oschätzchen</a:t>
            </a:r>
            <a:r>
              <a:rPr lang="en-US" sz="1600" dirty="0"/>
              <a:t>, M. (2024). Resource-efficient Edge AI solution for predictive maintenance. Procedia Computer Science, 232, 348–357. https://doi.org/10.1016/j.procs.2024.01.034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Bharathi, Y. H. (n.d.). International Journal of INTELLIGENT SYSTEMS AND APPLICATIONS IN ENGINEERING Edge AI for Real-Time Motor Condition Monitoring in Smart Grids. In Original Research Paper International Journal of Intelligent Systems and Applications in Engineering IJISAE (Vol. 2024, Issue 23s). Retrieved www.ijisae.org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Dey, S., &amp; </a:t>
            </a:r>
            <a:r>
              <a:rPr lang="en-US" sz="1600" dirty="0" err="1"/>
              <a:t>Nagavalli</a:t>
            </a:r>
            <a:r>
              <a:rPr lang="en-US" sz="1600" dirty="0"/>
              <a:t>, S. P. (2022). AI-Based Predictive Maintenance in Edge IoT Devices: A Proactive Approach to Latency Reduction. International Journal of Emerging Trends in Computer Science and Information Technology, 3(1), 55–64. https://doi.org/10.63282/3050-9246.ijetcsit-v3i1p107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 err="1"/>
              <a:t>Drakaki</a:t>
            </a:r>
            <a:r>
              <a:rPr lang="en-US" sz="1600" dirty="0"/>
              <a:t>, M., </a:t>
            </a:r>
            <a:r>
              <a:rPr lang="en-US" sz="1600" dirty="0" err="1"/>
              <a:t>Karnavas</a:t>
            </a:r>
            <a:r>
              <a:rPr lang="en-US" sz="1600" dirty="0"/>
              <a:t>, Y. L., </a:t>
            </a:r>
            <a:r>
              <a:rPr lang="en-US" sz="1600" dirty="0" err="1"/>
              <a:t>Tzionas</a:t>
            </a:r>
            <a:r>
              <a:rPr lang="en-US" sz="1600" dirty="0"/>
              <a:t>, P., &amp; </a:t>
            </a:r>
            <a:r>
              <a:rPr lang="en-US" sz="1600" dirty="0" err="1"/>
              <a:t>Chasiotis</a:t>
            </a:r>
            <a:r>
              <a:rPr lang="en-US" sz="1600" dirty="0"/>
              <a:t>, I. D. (2021). Recent Developments towards Industry 4.0 Oriented Predictive Maintenance in Induction Motors. Procedia Computer Science, 180, 943–949. https://doi.org/10.1016/j.procs.2021.01.345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Hafeez, T., Xu, L., &amp; McArdle, G. (2021). Edge intelligence for data handling and predictive maintenance in </a:t>
            </a:r>
            <a:r>
              <a:rPr lang="en-US" sz="1600" dirty="0" err="1"/>
              <a:t>IIoT</a:t>
            </a:r>
            <a:r>
              <a:rPr lang="en-US" sz="1600" dirty="0"/>
              <a:t>. IEEE Access, 9, 49355–49371. https://doi.org/10.1109/ACCESS.2021.3069137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 err="1"/>
              <a:t>Lamdjad</a:t>
            </a:r>
            <a:r>
              <a:rPr lang="en-US" sz="1600" dirty="0"/>
              <a:t>, B., &amp; </a:t>
            </a:r>
            <a:r>
              <a:rPr lang="en-US" sz="1600" dirty="0" err="1"/>
              <a:t>Chaiter</a:t>
            </a:r>
            <a:r>
              <a:rPr lang="en-US" sz="1600" dirty="0"/>
              <a:t>, A. (2026). AI-Powered Predictive Maintenance and Prognostic Health Management Using Edge-Based Predictive Algorithms for Industrial Operations. https://doi.org/10.20944/preprints202603.0010.v1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Lazzaro, A., </a:t>
            </a:r>
            <a:r>
              <a:rPr lang="en-US" sz="1600" dirty="0" err="1"/>
              <a:t>D’Addona</a:t>
            </a:r>
            <a:r>
              <a:rPr lang="en-US" sz="1600" dirty="0"/>
              <a:t>, D. M., &amp; Merenda, M. (2024). A Detailed Study on Algorithms for Predictive Maintenance in Smart Manufacturing: Chip Form Classification Using Edge Machine Learning. IEEE Open Journal of the Industrial Electronics Society, 5, 1190–1205. https://doi.org/10.1109/OJIES.2024.3484006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Nunes, P., Santos, J., &amp; Rocha, E. (2023). Challenges in predictive maintenance – A review. In CIRP Journal of Manufacturing Science and Technology (Vol. 40, pp. 53–67). Elsevier Ltd. https://doi.org/10.1016/j.cirpj.2022.11.004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 err="1"/>
              <a:t>Soni</a:t>
            </a:r>
            <a:r>
              <a:rPr lang="en-US" sz="1600" dirty="0"/>
              <a:t>, K., &amp; Agrawal, M. (2025). AI Driven Predictive Maintenance at the Edge.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 err="1"/>
              <a:t>Vermesan</a:t>
            </a:r>
            <a:r>
              <a:rPr lang="en-US" sz="1600" dirty="0"/>
              <a:t>, O., &amp; Coppola, M. (2023). Embedded Edge Intelligent Processing for End-To-End Predictive Maintenance in Industrial Applications. In Industrial Artificial Intelligence Technologies and Applications (pp. 157–175). River Publishers. https://doi.org/10.1201/9781003377382-12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Zhou, Z., </a:t>
            </a:r>
            <a:r>
              <a:rPr lang="en-US" sz="1600" dirty="0" err="1"/>
              <a:t>Qiao</a:t>
            </a:r>
            <a:r>
              <a:rPr lang="en-US" sz="1600" dirty="0"/>
              <a:t>, Y., Lin, X., Li, P., Wu, N., &amp; Yu, D. (2025). A Deployment Method for Motor Fault Diagnosis Application Based on Edge Intelligence. Sensors, 25(1). </a:t>
            </a:r>
            <a:r>
              <a:rPr lang="en-US" sz="1600" dirty="0">
                <a:hlinkClick r:id="rId2"/>
              </a:rPr>
              <a:t>https://doi.org/10.3390/s25010009</a:t>
            </a:r>
            <a:endParaRPr lang="en-US" sz="1600" dirty="0"/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Dataset: CWRU </a:t>
            </a:r>
            <a:r>
              <a:rPr lang="en-US" sz="1600" dirty="0">
                <a:hlinkClick r:id="rId3"/>
              </a:rPr>
              <a:t>Download a Data File | Case School of Engineering</a:t>
            </a: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highlight>
                  <a:srgbClr val="FFFF00"/>
                </a:highlight>
              </a:rPr>
              <a:t>DUDU-BLDC: Data set for diagnostic of Brushless DC motors with degrading magnets </a:t>
            </a:r>
            <a:r>
              <a:rPr lang="en-US" sz="1600" dirty="0">
                <a:highlight>
                  <a:srgbClr val="FFFF00"/>
                </a:highlight>
                <a:hlinkClick r:id="rId4"/>
              </a:rPr>
              <a:t>DUDU-BLDC: Data set for diagnostic of Brushless DC motors with degrading magnets</a:t>
            </a:r>
            <a:endParaRPr lang="en-US" sz="1600" dirty="0">
              <a:highlight>
                <a:srgbClr val="FFFF00"/>
              </a:highlight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highlight>
                  <a:srgbClr val="FFFF00"/>
                </a:highlight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DUDU-BLDC: Dataset for Diagnostics of Brushless DC motors with Degrading Magnets | IEEE Conference Publication | IEEE Xplore</a:t>
            </a:r>
            <a:r>
              <a:rPr lang="en-IN" sz="1600" dirty="0">
                <a:highlight>
                  <a:srgbClr val="FFFF00"/>
                </a:highlight>
              </a:rPr>
              <a:t> </a:t>
            </a:r>
            <a:r>
              <a:rPr lang="en-IN" sz="1600" u="sng" dirty="0">
                <a:highlight>
                  <a:srgbClr val="FFFF00"/>
                </a:highlight>
              </a:rPr>
              <a:t>https://ieeexplore.ieee.org/document/11363866</a:t>
            </a:r>
            <a:endParaRPr lang="en-US" sz="1600" dirty="0">
              <a:highlight>
                <a:srgbClr val="FFFF00"/>
              </a:highlight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2EB66-6C3B-0BC0-2D20-987EC328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25-05-2026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FFBBA-6CED-E927-5EED-B5B1722C8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038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54A9C-93AE-B5F3-F1A4-B23DCB289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Thank you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344B8-A1D8-CD59-8F23-27063C556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25-05-2026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7C0E03-881C-0985-CD32-CC21B0D86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81529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2660</TotalTime>
  <Words>2159</Words>
  <Application>Microsoft Office PowerPoint</Application>
  <PresentationFormat>Widescreen</PresentationFormat>
  <Paragraphs>243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Office Theme</vt:lpstr>
      <vt:lpstr>PowerPoint Presentation</vt:lpstr>
      <vt:lpstr>Table of Contents:</vt:lpstr>
      <vt:lpstr>Introduction</vt:lpstr>
      <vt:lpstr>Objective of the Project</vt:lpstr>
      <vt:lpstr>Proposed Model</vt:lpstr>
      <vt:lpstr>Methodology</vt:lpstr>
      <vt:lpstr>Methodology Continued…</vt:lpstr>
      <vt:lpstr>Timeline of the project</vt:lpstr>
      <vt:lpstr>Literature Survey</vt:lpstr>
      <vt:lpstr>Work Done Continued…</vt:lpstr>
      <vt:lpstr>Results and discussions</vt:lpstr>
      <vt:lpstr>Results and Discussions Continued…</vt:lpstr>
      <vt:lpstr>Results and Discussions Continued…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Praveen Pawar</dc:creator>
  <cp:lastModifiedBy>kartik burele</cp:lastModifiedBy>
  <cp:revision>53</cp:revision>
  <dcterms:created xsi:type="dcterms:W3CDTF">2025-05-09T09:30:28Z</dcterms:created>
  <dcterms:modified xsi:type="dcterms:W3CDTF">2026-05-25T18:12:45Z</dcterms:modified>
</cp:coreProperties>
</file>