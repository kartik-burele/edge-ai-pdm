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7" r:id="rId9"/>
    <p:sldId id="266" r:id="rId10"/>
    <p:sldId id="262" r:id="rId11"/>
    <p:sldId id="263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3218AD-74E9-4252-B911-4B421BF1F79F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56934E-70FA-4538-A02C-6D23660C6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284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73B61-4C44-3616-1AC4-C7CC3BF2E0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754BAA-3310-F145-D7E8-407BE7A8CD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0D1936-0F2E-C439-E548-CFD53B7E5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5F512-8975-4BF3-A04B-98EEB0D21E15}" type="datetime1">
              <a:rPr lang="en-IN" smtClean="0"/>
              <a:t>13-03-2026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FDD223-AEE9-D9F3-0FB8-2233981B2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B56C0-95DA-C0B4-06CB-E2F8B88CE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983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0C530-BFBD-D911-D13F-1DEF32C90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40B04-D807-19A7-D4BF-A659AAE958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69AFE-01A0-26E5-8CAC-7482B13E6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A5-9B2D-42E2-A09F-AFAF775BA73B}" type="datetime1">
              <a:rPr lang="en-IN" smtClean="0"/>
              <a:t>13-03-2026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A4D45E-7FAD-1807-D9D8-BBF6E5B07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98C32-1772-09AD-F4DE-476E16C4F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292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14C01-4AC2-6116-0AD9-93C0FD29F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899DB3-08BF-2AEF-7A0F-AD74D52FBB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D96CE1-B866-F4B0-8962-AC5E9E525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F163F-D23F-463C-B7DE-B2FD934A9656}" type="datetime1">
              <a:rPr lang="en-IN" smtClean="0"/>
              <a:t>13-03-2026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239EFB-92F2-4D07-49EE-D98E4844A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29EA3D-FB0A-EB4E-5F85-9495D2D34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872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35BEA-68CE-B4BE-8C0B-181E86490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EABC7-4A63-A566-3785-6559B06B28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F228D3-6E45-DB2C-BB3B-BAA0B9118F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1E9BE3-40A2-9A7B-F76A-80A6B6E4B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759D0-08B6-41E6-A77E-0AB9D1CBE992}" type="datetime1">
              <a:rPr lang="en-IN" smtClean="0"/>
              <a:t>13-03-2026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C0015-153D-B1D8-B807-2D5901054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805B12-040B-C002-C167-6C0CB9793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340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EE4F0-C6F9-4CF9-DB3C-B9AE667F0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AE50C1-8915-E2E3-EC48-350BDEFD5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F9AA6D-E647-1289-B7FA-2160CB52B3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0A7124-6A08-EE9C-3EB1-EC65D6D581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BB6355-DC6D-2A3F-9982-4AFFCEA041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D52CB4-6FBD-2CFA-88AB-4D9E3023F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8C209-D96D-4E88-BCA6-C7B1F5B6F67D}" type="datetime1">
              <a:rPr lang="en-IN" smtClean="0"/>
              <a:t>13-03-2026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D51D8B-EB32-A6DF-76E2-C071E2892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903264-D13E-EE93-263D-49174BDEA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852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675E6-D681-2A9A-620E-CDF623866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400742-2F34-9A7E-3B72-DD9B99FB8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BCCD8-300D-489E-B16E-CD0157CA398A}" type="datetime1">
              <a:rPr lang="en-IN" smtClean="0"/>
              <a:t>13-03-2026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2EC0CE-65E0-DA56-82C2-C346336BD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4063F5-82B3-6B30-ACCC-F40675E10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406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7D7BA8-2288-AD52-43C9-9A3733CA0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77FEE-8C5F-48A0-B865-7E44A2B97634}" type="datetime1">
              <a:rPr lang="en-IN" smtClean="0"/>
              <a:t>13-03-2026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B826F2-EAEF-2ABE-6098-39328C77E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3606DF-EBD9-CF42-132C-C58F7AE58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583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9A436-0B60-5394-66F7-D3AD37EA6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A881C5-C1B0-33C0-BFD5-01EFFF9653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A18742-ADB3-0B75-8984-568826E8E3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3FC35D-1D44-AF23-AC6B-FCD323AE0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1FA16-036E-472F-8379-EF89E947FEE4}" type="datetime1">
              <a:rPr lang="en-IN" smtClean="0"/>
              <a:t>13-03-2026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3B7CBE-5D82-F6FF-4E6E-43A0465AD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FD0FB4-F448-8CDC-7F15-93F16FE20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84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1BD8C-4B08-B6E4-12C1-42AFC0879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C5F7AA-E1B6-CD28-147F-A07AAB6851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111745-CF18-7A73-A711-4CA20579C1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DB14D6-9A62-EA95-CF75-13B857F35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162D2-E495-459D-B029-0B8D717FB320}" type="datetime1">
              <a:rPr lang="en-IN" smtClean="0"/>
              <a:t>13-03-2026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4A6000-EE39-14EE-19EA-BE817F48E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F5B818-FF6B-00D6-B3FC-CEB1498FC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304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B7BAB-24CE-1AB4-BA1D-AEF76E153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F0F43B-E46E-03EB-BA3E-905EF4121A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025BE-2892-06CB-84A5-DDEAF744D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62F26-2809-44A2-B21A-22C99EDF5019}" type="datetime1">
              <a:rPr lang="en-IN" smtClean="0"/>
              <a:t>13-03-2026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A3150-F890-2FA8-B62C-5F0CEFD54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0F612A-9787-0402-9853-C97C2A607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071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9DD120-F9C6-8E2C-2C65-9A38B856A8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3E0655-DA98-9FB1-71C1-05897537F4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D74160-6B54-C6F6-FBEB-E1BA0E60D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624F4-7690-47E0-859F-BAD76B859654}" type="datetime1">
              <a:rPr lang="en-IN" smtClean="0"/>
              <a:t>13-03-2026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020681-3DB1-5C1B-E254-8A61D9FDD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847005-DA7B-402D-4786-AAF70A19B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77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51F2D6-763B-493B-CD73-9D443DD24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5A00E5-A473-9799-552C-F58E2962E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FB51AB-16AB-98B9-E037-B8C5B5C453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60C17A-1D3B-4747-8E76-739B3EB99950}" type="datetime1">
              <a:rPr lang="en-IN" smtClean="0"/>
              <a:t>13-03-2026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2A0CE-110F-2CE5-41CB-91E468AA5D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16B8AD-DEF5-801A-0B7B-4E581CEAEE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F62C7C-9FA6-4436-90F7-C7370BED1EB3}" type="slidenum">
              <a:rPr lang="en-US" smtClean="0"/>
              <a:pPr/>
              <a:t>‹#›</a:t>
            </a:fld>
            <a:r>
              <a:rPr lang="en-US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648677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logo of a national institute of technology&#10;&#10;Description automatically generated">
            <a:extLst>
              <a:ext uri="{FF2B5EF4-FFF2-40B4-BE49-F238E27FC236}">
                <a16:creationId xmlns:a16="http://schemas.microsoft.com/office/drawing/2014/main" id="{0836F0EA-D4C7-0822-44C4-05C129DBC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825" y="375458"/>
            <a:ext cx="1026825" cy="10268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63C0998-21F0-E3C1-F812-EE94F9B7CC2B}"/>
              </a:ext>
            </a:extLst>
          </p:cNvPr>
          <p:cNvSpPr txBox="1"/>
          <p:nvPr/>
        </p:nvSpPr>
        <p:spPr>
          <a:xfrm>
            <a:off x="2653249" y="504151"/>
            <a:ext cx="688550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+mj-lt"/>
              </a:rPr>
              <a:t>Visvesvaraya National Institute of Technology, Nagpur</a:t>
            </a:r>
          </a:p>
          <a:p>
            <a:pPr algn="ctr"/>
            <a:r>
              <a:rPr lang="en-US" sz="2000" b="1" dirty="0">
                <a:latin typeface="+mj-lt"/>
              </a:rPr>
              <a:t>Electronics and Communication Engineering Department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436944-9102-B8DD-4937-53CE23F863CD}"/>
              </a:ext>
            </a:extLst>
          </p:cNvPr>
          <p:cNvCxnSpPr/>
          <p:nvPr/>
        </p:nvCxnSpPr>
        <p:spPr>
          <a:xfrm>
            <a:off x="408781" y="2466200"/>
            <a:ext cx="110477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4CC8E6D-9AC9-207F-5269-04FCA0C97961}"/>
              </a:ext>
            </a:extLst>
          </p:cNvPr>
          <p:cNvSpPr txBox="1"/>
          <p:nvPr/>
        </p:nvSpPr>
        <p:spPr>
          <a:xfrm>
            <a:off x="1010935" y="2810598"/>
            <a:ext cx="101701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/>
              <a:t>Edge AI based Predictive Maintenance of Industrial Motors</a:t>
            </a:r>
            <a:endParaRPr 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3C08EE-8491-1D44-274A-D679D012EA7B}"/>
              </a:ext>
            </a:extLst>
          </p:cNvPr>
          <p:cNvSpPr txBox="1"/>
          <p:nvPr/>
        </p:nvSpPr>
        <p:spPr>
          <a:xfrm>
            <a:off x="2975307" y="3909576"/>
            <a:ext cx="6405984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Presented by</a:t>
            </a:r>
          </a:p>
          <a:p>
            <a:pPr algn="ctr"/>
            <a:r>
              <a:rPr lang="en-US" sz="2400" b="1" dirty="0">
                <a:solidFill>
                  <a:srgbClr val="002060"/>
                </a:solidFill>
              </a:rPr>
              <a:t>Kartik Burele (MT24AAC011)</a:t>
            </a:r>
          </a:p>
          <a:p>
            <a:pPr algn="ctr"/>
            <a:r>
              <a:rPr lang="en-US" sz="2000" b="1" dirty="0"/>
              <a:t>Embedded Software Engineer @ L &amp; T Technology Services</a:t>
            </a:r>
            <a:endParaRPr 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6906C1-A200-6BB6-2FA3-502611F915AB}"/>
              </a:ext>
            </a:extLst>
          </p:cNvPr>
          <p:cNvSpPr txBox="1"/>
          <p:nvPr/>
        </p:nvSpPr>
        <p:spPr>
          <a:xfrm>
            <a:off x="4849026" y="5400139"/>
            <a:ext cx="2658548" cy="14157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Under the supervision of</a:t>
            </a:r>
          </a:p>
          <a:p>
            <a:pPr algn="ctr"/>
            <a:r>
              <a:rPr lang="en-US" sz="2400" b="1" dirty="0">
                <a:solidFill>
                  <a:srgbClr val="002060"/>
                </a:solidFill>
              </a:rPr>
              <a:t>Dr. Mansi A. Radke </a:t>
            </a:r>
            <a:br>
              <a:rPr lang="en-US" sz="2400" b="1" dirty="0">
                <a:solidFill>
                  <a:srgbClr val="002060"/>
                </a:solidFill>
              </a:rPr>
            </a:br>
            <a:r>
              <a:rPr lang="en-US" b="1" dirty="0">
                <a:solidFill>
                  <a:srgbClr val="002060"/>
                </a:solidFill>
              </a:rPr>
              <a:t>Asst. Professor</a:t>
            </a:r>
          </a:p>
          <a:p>
            <a:pPr algn="ctr"/>
            <a:r>
              <a:rPr lang="en-US" sz="2400" b="1" dirty="0"/>
              <a:t>VNIT Nagpur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2113255-FBC0-1E35-5573-1F719584E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D5500-71C4-4001-8F33-8C22722166F3}" type="datetime1">
              <a:rPr lang="en-IN" smtClean="0"/>
              <a:t>13-03-2026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6B8CB38-AB1E-3F70-E960-86C496A5F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1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DE005E-64E3-E478-B34F-E79F94A13EA5}"/>
              </a:ext>
            </a:extLst>
          </p:cNvPr>
          <p:cNvSpPr txBox="1"/>
          <p:nvPr/>
        </p:nvSpPr>
        <p:spPr>
          <a:xfrm>
            <a:off x="3048762" y="1450537"/>
            <a:ext cx="609447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u="sng" dirty="0"/>
              <a:t>Executive </a:t>
            </a:r>
            <a:r>
              <a:rPr lang="en-US" sz="2000" b="1" u="sng" dirty="0" err="1"/>
              <a:t>M.Tech</a:t>
            </a:r>
            <a:r>
              <a:rPr lang="en-US" sz="2000" b="1" u="sng" dirty="0"/>
              <a:t>. in Applied AI</a:t>
            </a:r>
          </a:p>
          <a:p>
            <a:pPr algn="ctr"/>
            <a:r>
              <a:rPr lang="en-US" sz="2000" b="1" u="sng" dirty="0"/>
              <a:t>Cohort 3A sem. 3, Summer 2026</a:t>
            </a:r>
          </a:p>
          <a:p>
            <a:pPr algn="ctr"/>
            <a:r>
              <a:rPr lang="en-US" sz="2000" b="1" u="sng" dirty="0"/>
              <a:t>Eval. 1 (14/03/2026)</a:t>
            </a:r>
          </a:p>
        </p:txBody>
      </p:sp>
    </p:spTree>
    <p:extLst>
      <p:ext uri="{BB962C8B-B14F-4D97-AF65-F5344CB8AC3E}">
        <p14:creationId xmlns:p14="http://schemas.microsoft.com/office/powerpoint/2010/main" val="1500752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78DC1-2314-1936-E491-A2AA61174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83446-B031-65D4-C2BF-E38ADC6964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Introduction</a:t>
            </a:r>
          </a:p>
          <a:p>
            <a:r>
              <a:rPr lang="en-US" dirty="0"/>
              <a:t>Objective of the Project</a:t>
            </a:r>
          </a:p>
          <a:p>
            <a:r>
              <a:rPr lang="en-US" dirty="0"/>
              <a:t>Proposed Model</a:t>
            </a:r>
          </a:p>
          <a:p>
            <a:r>
              <a:rPr lang="en-US" dirty="0"/>
              <a:t>Methodology</a:t>
            </a:r>
          </a:p>
          <a:p>
            <a:r>
              <a:rPr lang="en-US" dirty="0"/>
              <a:t>Timeline of the Project</a:t>
            </a:r>
          </a:p>
          <a:p>
            <a:r>
              <a:rPr lang="en-US" dirty="0"/>
              <a:t>Literature Survey</a:t>
            </a:r>
          </a:p>
          <a:p>
            <a:r>
              <a:rPr lang="en-US" dirty="0"/>
              <a:t>Results and Discussion</a:t>
            </a:r>
          </a:p>
          <a:p>
            <a:r>
              <a:rPr lang="en-US" dirty="0"/>
              <a:t>Conclusion</a:t>
            </a:r>
          </a:p>
          <a:p>
            <a:r>
              <a:rPr lang="en-US" dirty="0"/>
              <a:t>References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3EAE4-7B8A-1BB4-7A82-30D1B7070A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DE0E4A5-9B2D-42E2-A09F-AFAF775BA73B}" type="datetime1">
              <a:rPr lang="en-IN" smtClean="0"/>
              <a:t>13-03-2026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5E49F3-1CC0-B691-D400-C0CD39A42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238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81843-B53B-E0B7-2406-AAA2AAA7F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7CB015-3B0B-52FB-DD1A-3EE8D91A2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1782"/>
            <a:ext cx="7560365" cy="5014567"/>
          </a:xfrm>
        </p:spPr>
        <p:txBody>
          <a:bodyPr>
            <a:normAutofit fontScale="85000" lnSpcReduction="10000"/>
          </a:bodyPr>
          <a:lstStyle/>
          <a:p>
            <a:r>
              <a:rPr lang="en-US" sz="1600" b="1" i="1" u="sng" dirty="0"/>
              <a:t>Overview</a:t>
            </a:r>
          </a:p>
          <a:p>
            <a:pPr marL="0" indent="0">
              <a:buNone/>
            </a:pPr>
            <a:r>
              <a:rPr lang="en-US" sz="1600" dirty="0"/>
              <a:t>Industrial motors are critical components in manufacturing systems. Unexpected failures can lead to:</a:t>
            </a:r>
          </a:p>
          <a:p>
            <a:r>
              <a:rPr lang="en-US" sz="1600" dirty="0"/>
              <a:t>Production downtime</a:t>
            </a:r>
          </a:p>
          <a:p>
            <a:r>
              <a:rPr lang="en-US" sz="1600" dirty="0"/>
              <a:t>Maintenance cost</a:t>
            </a:r>
          </a:p>
          <a:p>
            <a:r>
              <a:rPr lang="en-US" sz="1600" dirty="0"/>
              <a:t>Safety hazards</a:t>
            </a:r>
          </a:p>
          <a:p>
            <a:pPr marL="0" indent="0">
              <a:buNone/>
            </a:pPr>
            <a:r>
              <a:rPr lang="en-US" sz="1600" dirty="0"/>
              <a:t>Traditional maintenance strategies include:</a:t>
            </a:r>
          </a:p>
          <a:p>
            <a:r>
              <a:rPr lang="en-US" sz="1600" dirty="0"/>
              <a:t>Reactive maintenance (repair after failure)</a:t>
            </a:r>
          </a:p>
          <a:p>
            <a:r>
              <a:rPr lang="en-US" sz="1600" dirty="0"/>
              <a:t>Preventive maintenance (scheduled replacement)</a:t>
            </a:r>
          </a:p>
          <a:p>
            <a:pPr marL="0" indent="0">
              <a:buNone/>
            </a:pPr>
            <a:r>
              <a:rPr lang="en-US" sz="1600" dirty="0"/>
              <a:t>These methods are inefficient and often lead to unnecessary downtime.</a:t>
            </a:r>
          </a:p>
          <a:p>
            <a:r>
              <a:rPr lang="en-US" sz="1600" b="1" i="1" u="sng" dirty="0"/>
              <a:t>Motivation</a:t>
            </a:r>
          </a:p>
          <a:p>
            <a:pPr marL="0" indent="0">
              <a:buNone/>
            </a:pPr>
            <a:r>
              <a:rPr lang="en-US" sz="1600" dirty="0"/>
              <a:t>Predictive maintenance uses </a:t>
            </a:r>
            <a:r>
              <a:rPr lang="en-US" sz="1600" b="1" dirty="0"/>
              <a:t>sensor data and machine learning</a:t>
            </a:r>
            <a:r>
              <a:rPr lang="en-US" sz="1600" dirty="0"/>
              <a:t> to detect faults before failure occurs.</a:t>
            </a:r>
          </a:p>
          <a:p>
            <a:pPr marL="0" indent="0">
              <a:buNone/>
            </a:pPr>
            <a:r>
              <a:rPr lang="en-US" sz="1600" dirty="0"/>
              <a:t>Key benefits:</a:t>
            </a:r>
          </a:p>
          <a:p>
            <a:r>
              <a:rPr lang="en-US" sz="1600" dirty="0"/>
              <a:t>Reduced downtime</a:t>
            </a:r>
          </a:p>
          <a:p>
            <a:r>
              <a:rPr lang="en-US" sz="1600" dirty="0"/>
              <a:t>Lower maintenance cost</a:t>
            </a:r>
          </a:p>
          <a:p>
            <a:r>
              <a:rPr lang="en-US" sz="1600" dirty="0"/>
              <a:t>Increased equipment lifespan</a:t>
            </a:r>
          </a:p>
          <a:p>
            <a:pPr marL="0" indent="0">
              <a:buNone/>
            </a:pPr>
            <a:r>
              <a:rPr lang="en-US" sz="1600" dirty="0"/>
              <a:t>Edge AI enables </a:t>
            </a:r>
            <a:r>
              <a:rPr lang="en-US" sz="1600" b="1" dirty="0"/>
              <a:t>real-time monitoring directly on embedded devices</a:t>
            </a:r>
            <a:r>
              <a:rPr lang="en-US" sz="1600" dirty="0"/>
              <a:t>, eliminating the need for cloud processing.</a:t>
            </a:r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BB601-FBC2-B8E9-2FB1-0DE4D9B2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A5-9B2D-42E2-A09F-AFAF775BA73B}" type="datetime1">
              <a:rPr lang="en-IN" smtClean="0"/>
              <a:t>14-03-2026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E31EA7-2FE7-15EE-F4AF-F046C7457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3</a:t>
            </a:fld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984B9D0-A1A2-4590-85C8-A729D5F6D815}"/>
              </a:ext>
            </a:extLst>
          </p:cNvPr>
          <p:cNvSpPr/>
          <p:nvPr/>
        </p:nvSpPr>
        <p:spPr>
          <a:xfrm>
            <a:off x="8610600" y="1776630"/>
            <a:ext cx="3197087" cy="330473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i="1" u="sng" dirty="0">
                <a:solidFill>
                  <a:schemeClr val="tx1"/>
                </a:solidFill>
              </a:rPr>
              <a:t>Research Gap</a:t>
            </a:r>
          </a:p>
          <a:p>
            <a:r>
              <a:rPr lang="en-US" sz="1600" dirty="0"/>
              <a:t>Many existing systems rely 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Cloud 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High-cost industrial monitoring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r>
              <a:rPr lang="en-US" sz="1600" dirty="0"/>
              <a:t>There is a need for: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Low-cost embedded AI solutions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Real-time fault detection at the edge</a:t>
            </a:r>
          </a:p>
          <a:p>
            <a:endParaRPr lang="en-IN" sz="1600" dirty="0"/>
          </a:p>
          <a:p>
            <a:pPr algn="ctr"/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051692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ADF40-F19A-D2C4-F90B-6FECAFED0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 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25D0E4-AD5D-FDC4-B83F-60970BD279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The primary objective of this project is to develop an </a:t>
            </a:r>
            <a:r>
              <a:rPr lang="en-US" b="1" dirty="0"/>
              <a:t>Edge AI based predictive maintenance system for industrial motors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i="1" u="sng" dirty="0"/>
              <a:t>Specific Objectives:</a:t>
            </a:r>
          </a:p>
          <a:p>
            <a:r>
              <a:rPr lang="en-US" dirty="0"/>
              <a:t>Collect vibration and temperature data from industrial motors using sensors</a:t>
            </a:r>
          </a:p>
          <a:p>
            <a:r>
              <a:rPr lang="en-US" dirty="0"/>
              <a:t>Develop a machine learning model to classify motor operating conditions</a:t>
            </a:r>
          </a:p>
          <a:p>
            <a:r>
              <a:rPr lang="en-US" dirty="0"/>
              <a:t>Deploy the trained model on an embedded device for real-time monitoring</a:t>
            </a:r>
          </a:p>
          <a:p>
            <a:r>
              <a:rPr lang="en-US" dirty="0"/>
              <a:t>Detect faults such as imbalance, misalignment, and bearing faults</a:t>
            </a:r>
          </a:p>
          <a:p>
            <a:r>
              <a:rPr lang="en-US" dirty="0"/>
              <a:t>Reduce equipment downtime through early fault detection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2E45DA-79AD-441F-6D6A-F73E02765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A5-9B2D-42E2-A09F-AFAF775BA73B}" type="datetime1">
              <a:rPr lang="en-IN" smtClean="0"/>
              <a:t>13-03-2026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41713A-7AC8-8392-67DB-8688851C2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177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11BDE-A387-12CC-F505-8E04DFFFB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82" y="198230"/>
            <a:ext cx="10515600" cy="1325563"/>
          </a:xfrm>
        </p:spPr>
        <p:txBody>
          <a:bodyPr/>
          <a:lstStyle/>
          <a:p>
            <a:r>
              <a:rPr lang="en-US" dirty="0"/>
              <a:t>Proposed Model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8AF46D-6352-D0FE-7225-3099957EF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A5-9B2D-42E2-A09F-AFAF775BA73B}" type="datetime1">
              <a:rPr lang="en-IN" smtClean="0"/>
              <a:t>13-03-2026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CA1174-EC12-3755-D427-2E7008343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5</a:t>
            </a:fld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A34F4C1-7A2B-4EC7-8AA5-5C1CAA1572D3}"/>
              </a:ext>
            </a:extLst>
          </p:cNvPr>
          <p:cNvGrpSpPr/>
          <p:nvPr/>
        </p:nvGrpSpPr>
        <p:grpSpPr>
          <a:xfrm>
            <a:off x="4025349" y="520493"/>
            <a:ext cx="7663068" cy="5817014"/>
            <a:chOff x="861390" y="1357556"/>
            <a:chExt cx="7229061" cy="5058892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AFA6D17-67EB-41AD-B14B-1DD9A8088B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1390" y="1357556"/>
              <a:ext cx="7229061" cy="5058892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7B59050-50A8-4560-AE73-5BBE6CC720D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02772" y="1841083"/>
              <a:ext cx="994409" cy="626167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7940DF6-DEFD-43C9-BC82-C75D5DD2EDA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81196" y="3568751"/>
              <a:ext cx="555988" cy="555988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8CF0DD4E-46B2-48BA-ACB7-D09B5801F8F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2588" y="2802835"/>
              <a:ext cx="392760" cy="32520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F528C504-B2AB-4B8F-8A78-FA27C5C534C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9042" y="3048590"/>
              <a:ext cx="648141" cy="405088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760AA866-8293-4CF4-B483-A28787C5908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88538" y="2642127"/>
              <a:ext cx="532812" cy="5328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845697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CB3B4-63A1-72FB-2015-1F7B55998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52824D-545B-13DF-AC2F-091358AEF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A5-9B2D-42E2-A09F-AFAF775BA73B}" type="datetime1">
              <a:rPr lang="en-IN" smtClean="0"/>
              <a:t>14-03-2026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EE515A-4C89-966E-5CBA-AE4BBDB50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6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3DCFEB-19FE-4671-BB52-48066D7C0EC6}"/>
              </a:ext>
            </a:extLst>
          </p:cNvPr>
          <p:cNvSpPr/>
          <p:nvPr/>
        </p:nvSpPr>
        <p:spPr>
          <a:xfrm>
            <a:off x="139150" y="2254354"/>
            <a:ext cx="2334039" cy="39557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Data Acquisition</a:t>
            </a:r>
          </a:p>
          <a:p>
            <a:pPr algn="ctr"/>
            <a:endParaRPr lang="en-US" dirty="0"/>
          </a:p>
          <a:p>
            <a:pPr algn="ctr"/>
            <a:r>
              <a:rPr lang="en-US" sz="1400" i="1" u="sng" dirty="0"/>
              <a:t>Sensor data will be collected from industrial motors using:</a:t>
            </a:r>
          </a:p>
          <a:p>
            <a:pPr algn="ctr"/>
            <a:endParaRPr lang="en-US" sz="1400" dirty="0"/>
          </a:p>
          <a:p>
            <a:pPr algn="ctr"/>
            <a:r>
              <a:rPr lang="en-US" sz="1400" dirty="0"/>
              <a:t>Vibration sensors</a:t>
            </a:r>
          </a:p>
          <a:p>
            <a:pPr algn="ctr"/>
            <a:endParaRPr lang="en-US" sz="1400" dirty="0"/>
          </a:p>
          <a:p>
            <a:pPr algn="ctr"/>
            <a:r>
              <a:rPr lang="en-US" sz="1400" dirty="0"/>
              <a:t>Temperature sensors</a:t>
            </a:r>
          </a:p>
          <a:p>
            <a:pPr algn="ctr"/>
            <a:endParaRPr lang="en-US" sz="1400" dirty="0"/>
          </a:p>
          <a:p>
            <a:pPr algn="ctr"/>
            <a:r>
              <a:rPr lang="en-US" sz="1400" dirty="0"/>
              <a:t>The signals represent motor operating conditions.</a:t>
            </a:r>
            <a:endParaRPr lang="en-IN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84143C-895F-4E7A-8ED5-FADFACC856FC}"/>
              </a:ext>
            </a:extLst>
          </p:cNvPr>
          <p:cNvSpPr txBox="1"/>
          <p:nvPr/>
        </p:nvSpPr>
        <p:spPr>
          <a:xfrm>
            <a:off x="509379" y="1608022"/>
            <a:ext cx="68679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project methodology consists of five major stages.</a:t>
            </a:r>
          </a:p>
          <a:p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C9DD274-2FD7-47F1-BB89-132619AAA2E8}"/>
              </a:ext>
            </a:extLst>
          </p:cNvPr>
          <p:cNvSpPr/>
          <p:nvPr/>
        </p:nvSpPr>
        <p:spPr>
          <a:xfrm>
            <a:off x="2686879" y="2254354"/>
            <a:ext cx="2334039" cy="39557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 Preprocessing</a:t>
            </a:r>
          </a:p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1400" i="1" u="sng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Raw signals will undergo:</a:t>
            </a:r>
          </a:p>
          <a:p>
            <a:pPr algn="ctr"/>
            <a:endParaRPr lang="en-US" sz="14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1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Noise filtering</a:t>
            </a:r>
          </a:p>
          <a:p>
            <a:pPr algn="ctr"/>
            <a:endParaRPr lang="en-US" sz="14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1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Fast Fourier Transform (FFT)</a:t>
            </a:r>
          </a:p>
          <a:p>
            <a:pPr algn="ctr"/>
            <a:endParaRPr lang="en-US" sz="14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1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Feature extraction</a:t>
            </a:r>
          </a:p>
          <a:p>
            <a:pPr algn="ctr"/>
            <a:endParaRPr lang="en-US" sz="14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1400" i="1" u="sng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Features include:</a:t>
            </a:r>
          </a:p>
          <a:p>
            <a:pPr algn="ctr"/>
            <a:endParaRPr lang="en-US" sz="14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1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RMS vibration</a:t>
            </a:r>
          </a:p>
          <a:p>
            <a:pPr algn="ctr"/>
            <a:endParaRPr lang="en-US" sz="14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1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Kurtosis</a:t>
            </a:r>
          </a:p>
          <a:p>
            <a:pPr algn="ctr"/>
            <a:endParaRPr lang="en-US" sz="14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1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Spectral entropy</a:t>
            </a:r>
            <a:endParaRPr lang="en-IN" sz="1400" dirty="0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804AC8-4387-4080-AE5D-93FEB5EB90DF}"/>
              </a:ext>
            </a:extLst>
          </p:cNvPr>
          <p:cNvSpPr/>
          <p:nvPr/>
        </p:nvSpPr>
        <p:spPr>
          <a:xfrm>
            <a:off x="5234609" y="2254354"/>
            <a:ext cx="2334039" cy="39557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Model Training</a:t>
            </a:r>
          </a:p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1400" i="1" u="sng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Machine learning models will be trained using Python libraries such as:</a:t>
            </a:r>
          </a:p>
          <a:p>
            <a:pPr algn="ctr"/>
            <a:endParaRPr lang="en-US" sz="14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1400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Scikit</a:t>
            </a:r>
            <a:r>
              <a:rPr lang="en-US" sz="1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-learn</a:t>
            </a:r>
          </a:p>
          <a:p>
            <a:pPr algn="ctr"/>
            <a:endParaRPr lang="en-US" sz="14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1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TensorFlow</a:t>
            </a:r>
          </a:p>
          <a:p>
            <a:pPr algn="ctr"/>
            <a:endParaRPr lang="en-US" sz="14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1400" i="1" u="sng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Models evaluated:</a:t>
            </a:r>
          </a:p>
          <a:p>
            <a:pPr algn="ctr"/>
            <a:endParaRPr lang="en-US" sz="14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1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Random Forest</a:t>
            </a:r>
          </a:p>
          <a:p>
            <a:pPr algn="ctr"/>
            <a:endParaRPr lang="en-US" sz="14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1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Support Vector Machine</a:t>
            </a:r>
          </a:p>
          <a:p>
            <a:pPr algn="ctr"/>
            <a:endParaRPr lang="en-US" sz="14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1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CNN</a:t>
            </a:r>
            <a:endParaRPr lang="en-IN" sz="11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2BF94F-81A6-478E-BE05-97AE4E188CE6}"/>
              </a:ext>
            </a:extLst>
          </p:cNvPr>
          <p:cNvSpPr/>
          <p:nvPr/>
        </p:nvSpPr>
        <p:spPr>
          <a:xfrm>
            <a:off x="7782339" y="2254354"/>
            <a:ext cx="2017646" cy="39340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Model Deployment</a:t>
            </a:r>
          </a:p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1400" i="1" u="sng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trained model will be converted to:</a:t>
            </a:r>
          </a:p>
          <a:p>
            <a:pPr algn="ctr"/>
            <a:endParaRPr lang="en-US" sz="14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1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TensorFlow Lite</a:t>
            </a:r>
          </a:p>
          <a:p>
            <a:pPr algn="ctr"/>
            <a:endParaRPr lang="en-US" sz="14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1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and deployed on an embedded device for real-time inference.</a:t>
            </a:r>
            <a:endParaRPr lang="en-IN" sz="1100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CEA5A19-308E-470C-893A-E767885823EA}"/>
              </a:ext>
            </a:extLst>
          </p:cNvPr>
          <p:cNvSpPr/>
          <p:nvPr/>
        </p:nvSpPr>
        <p:spPr>
          <a:xfrm>
            <a:off x="10013676" y="2254353"/>
            <a:ext cx="2017646" cy="39340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Fault Detection</a:t>
            </a:r>
          </a:p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1400" i="1" u="sng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system will classify motor conditions into:</a:t>
            </a:r>
          </a:p>
          <a:p>
            <a:pPr algn="ctr"/>
            <a:endParaRPr lang="en-US" sz="14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1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Normal operation</a:t>
            </a:r>
          </a:p>
          <a:p>
            <a:pPr algn="ctr"/>
            <a:endParaRPr lang="en-US" sz="14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1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Imbalance</a:t>
            </a:r>
          </a:p>
          <a:p>
            <a:pPr algn="ctr"/>
            <a:endParaRPr lang="en-US" sz="14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1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Misalignment</a:t>
            </a:r>
          </a:p>
          <a:p>
            <a:pPr algn="ctr"/>
            <a:endParaRPr lang="en-US" sz="14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1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Bearing fault</a:t>
            </a:r>
            <a:endParaRPr lang="en-IN" sz="1000" dirty="0">
              <a:solidFill>
                <a:schemeClr val="bg1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E90C409-8188-430D-98B0-A8DE84BC2466}"/>
              </a:ext>
            </a:extLst>
          </p:cNvPr>
          <p:cNvCxnSpPr>
            <a:stCxn id="6" idx="3"/>
            <a:endCxn id="8" idx="1"/>
          </p:cNvCxnSpPr>
          <p:nvPr/>
        </p:nvCxnSpPr>
        <p:spPr>
          <a:xfrm>
            <a:off x="2473189" y="4232241"/>
            <a:ext cx="2136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54128BD-82AD-4B44-B05A-AEBE6EA5245B}"/>
              </a:ext>
            </a:extLst>
          </p:cNvPr>
          <p:cNvCxnSpPr/>
          <p:nvPr/>
        </p:nvCxnSpPr>
        <p:spPr>
          <a:xfrm>
            <a:off x="5020919" y="4233725"/>
            <a:ext cx="2136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87AD98D-D02D-4960-9E2F-0A1A51329646}"/>
              </a:ext>
            </a:extLst>
          </p:cNvPr>
          <p:cNvCxnSpPr/>
          <p:nvPr/>
        </p:nvCxnSpPr>
        <p:spPr>
          <a:xfrm>
            <a:off x="7568649" y="4232241"/>
            <a:ext cx="2136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0484155-4047-4EA6-8AE3-FD35C85BAD01}"/>
              </a:ext>
            </a:extLst>
          </p:cNvPr>
          <p:cNvCxnSpPr/>
          <p:nvPr/>
        </p:nvCxnSpPr>
        <p:spPr>
          <a:xfrm>
            <a:off x="9799986" y="4223786"/>
            <a:ext cx="2136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3817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40912-4C78-DD2D-0E07-FEABCF7D4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07" y="136525"/>
            <a:ext cx="10409583" cy="746471"/>
          </a:xfrm>
        </p:spPr>
        <p:txBody>
          <a:bodyPr/>
          <a:lstStyle/>
          <a:p>
            <a:r>
              <a:rPr lang="en-US" dirty="0"/>
              <a:t>Timeline of the project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960860-8BC4-2948-19A4-344A852B6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A5-9B2D-42E2-A09F-AFAF775BA73B}" type="datetime1">
              <a:rPr lang="en-IN" smtClean="0"/>
              <a:t>13-03-2026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1B0629-6098-89B0-A771-7C08AB637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7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29337A1-7514-4069-A9BC-24742297B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0105" y="0"/>
            <a:ext cx="5624740" cy="685800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7FCDAE89-6EE9-4CE3-A916-55CC24E24DB8}"/>
              </a:ext>
            </a:extLst>
          </p:cNvPr>
          <p:cNvGrpSpPr/>
          <p:nvPr/>
        </p:nvGrpSpPr>
        <p:grpSpPr>
          <a:xfrm>
            <a:off x="7933579" y="296256"/>
            <a:ext cx="220980" cy="586740"/>
            <a:chOff x="0" y="0"/>
            <a:chExt cx="220980" cy="586740"/>
          </a:xfrm>
        </p:grpSpPr>
        <p:sp>
          <p:nvSpPr>
            <p:cNvPr id="13" name="Wave 12">
              <a:extLst>
                <a:ext uri="{FF2B5EF4-FFF2-40B4-BE49-F238E27FC236}">
                  <a16:creationId xmlns:a16="http://schemas.microsoft.com/office/drawing/2014/main" id="{4CF06ED9-AD5E-4886-B239-F4F1538B0FB9}"/>
                </a:ext>
              </a:extLst>
            </p:cNvPr>
            <p:cNvSpPr/>
            <p:nvPr/>
          </p:nvSpPr>
          <p:spPr>
            <a:xfrm>
              <a:off x="0" y="0"/>
              <a:ext cx="220980" cy="144780"/>
            </a:xfrm>
            <a:prstGeom prst="wav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IN" sz="1100"/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24E0F648-3287-4389-BB14-A5CC8CC432E7}"/>
                </a:ext>
              </a:extLst>
            </p:cNvPr>
            <p:cNvCxnSpPr>
              <a:stCxn id="13" idx="1"/>
            </p:cNvCxnSpPr>
            <p:nvPr/>
          </p:nvCxnSpPr>
          <p:spPr>
            <a:xfrm>
              <a:off x="0" y="72390"/>
              <a:ext cx="7620" cy="5143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825627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B88FD-2E46-441D-B3D7-C5F882DED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Survey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36EE93-66E6-463C-A6DE-94591694A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1478"/>
            <a:ext cx="10515600" cy="4964871"/>
          </a:xfrm>
        </p:spPr>
        <p:txBody>
          <a:bodyPr>
            <a:normAutofit fontScale="92500" lnSpcReduction="10000"/>
          </a:bodyPr>
          <a:lstStyle/>
          <a:p>
            <a:r>
              <a:rPr lang="en-US" sz="2000" dirty="0"/>
              <a:t>Predictive Maintenance (</a:t>
            </a:r>
            <a:r>
              <a:rPr lang="en-US" sz="2000" dirty="0" err="1"/>
              <a:t>PdM</a:t>
            </a:r>
            <a:r>
              <a:rPr lang="en-US" sz="2000" dirty="0"/>
              <a:t>) has become an important strategy in </a:t>
            </a:r>
            <a:r>
              <a:rPr lang="en-US" sz="2000" b="1" dirty="0"/>
              <a:t>Industry 4.0</a:t>
            </a:r>
            <a:r>
              <a:rPr lang="en-US" sz="2000" dirty="0"/>
              <a:t> to reduce equipment downtime and improve production efficiency using sensor data and machine learning models. </a:t>
            </a:r>
          </a:p>
          <a:p>
            <a:r>
              <a:rPr lang="en-US" sz="2000" dirty="0"/>
              <a:t>AI techniques such as </a:t>
            </a:r>
            <a:r>
              <a:rPr lang="en-US" sz="2000" b="1" dirty="0"/>
              <a:t>machine learning, deep learning, and time-series forecasting</a:t>
            </a:r>
            <a:r>
              <a:rPr lang="en-US" sz="2000" dirty="0"/>
              <a:t> enable early detection of faults by </a:t>
            </a:r>
            <a:r>
              <a:rPr lang="en-US" sz="2000" dirty="0" err="1"/>
              <a:t>analysing</a:t>
            </a:r>
            <a:r>
              <a:rPr lang="en-US" sz="2000" dirty="0"/>
              <a:t> historical operational data from industrial machines. </a:t>
            </a:r>
          </a:p>
          <a:p>
            <a:r>
              <a:rPr lang="en-US" sz="2000" dirty="0"/>
              <a:t>Studies show that predictive maintenance systems can reduce maintenance costs by </a:t>
            </a:r>
            <a:r>
              <a:rPr lang="en-US" sz="2000" b="1" dirty="0"/>
              <a:t>15–70%</a:t>
            </a:r>
            <a:r>
              <a:rPr lang="en-US" sz="2000" dirty="0"/>
              <a:t> while improving system reliability and safety in manufacturing environments. </a:t>
            </a:r>
          </a:p>
          <a:p>
            <a:r>
              <a:rPr lang="en-US" sz="2000" dirty="0"/>
              <a:t>Traditional predictive maintenance architectures rely heavily on </a:t>
            </a:r>
            <a:r>
              <a:rPr lang="en-US" sz="2000" b="1" dirty="0"/>
              <a:t>cloud-based processing</a:t>
            </a:r>
            <a:r>
              <a:rPr lang="en-US" sz="2000" dirty="0"/>
              <a:t>, which may introduce latency and large data transmission overhead in industrial environments.</a:t>
            </a:r>
          </a:p>
          <a:p>
            <a:r>
              <a:rPr lang="en-US" sz="2000" dirty="0"/>
              <a:t>Edge AI enables </a:t>
            </a:r>
            <a:r>
              <a:rPr lang="en-US" sz="2000" b="1" dirty="0"/>
              <a:t>local processing of sensor data near industrial equipment</a:t>
            </a:r>
            <a:r>
              <a:rPr lang="en-US" sz="2000" dirty="0"/>
              <a:t>, significantly reducing latency and bandwidth consumption compared to centralized cloud solutions. </a:t>
            </a:r>
          </a:p>
          <a:p>
            <a:r>
              <a:rPr lang="en-US" sz="2000" dirty="0"/>
              <a:t>Research on </a:t>
            </a:r>
            <a:r>
              <a:rPr lang="en-US" sz="2000" b="1" dirty="0"/>
              <a:t>Edge AI for motor condition monitoring</a:t>
            </a:r>
            <a:r>
              <a:rPr lang="en-US" sz="2000" dirty="0"/>
              <a:t> demonstrates that edge-based systems can reduce diagnostic latency by more than </a:t>
            </a:r>
            <a:r>
              <a:rPr lang="en-US" sz="2000" b="1" dirty="0"/>
              <a:t>70% while achieving fault detection accuracy above 94%</a:t>
            </a:r>
            <a:r>
              <a:rPr lang="en-US" sz="2000" dirty="0"/>
              <a:t>. </a:t>
            </a:r>
          </a:p>
          <a:p>
            <a:r>
              <a:rPr lang="en-US" sz="2000" dirty="0"/>
              <a:t>Embedded AI models deployed on </a:t>
            </a:r>
            <a:r>
              <a:rPr lang="en-US" sz="2000" b="1" dirty="0"/>
              <a:t>microcontrollers and </a:t>
            </a:r>
            <a:r>
              <a:rPr lang="en-US" sz="2000" b="1" dirty="0" err="1"/>
              <a:t>IIoT</a:t>
            </a:r>
            <a:r>
              <a:rPr lang="en-US" sz="2000" b="1" dirty="0"/>
              <a:t> edge devices</a:t>
            </a:r>
            <a:r>
              <a:rPr lang="en-US" sz="2000" dirty="0"/>
              <a:t> allow real-time monitoring of vibration, temperature, and electrical signals of industrial motors. </a:t>
            </a:r>
          </a:p>
          <a:p>
            <a:r>
              <a:rPr lang="en-US" sz="2000" dirty="0"/>
              <a:t>Several machine learning models including </a:t>
            </a:r>
            <a:r>
              <a:rPr lang="en-US" sz="2000" b="1" dirty="0"/>
              <a:t>SVM, Random Forest, Neural Networks, and k-NN</a:t>
            </a:r>
            <a:r>
              <a:rPr lang="en-US" sz="2000" dirty="0"/>
              <a:t> have been tested for predictive maintenance tasks in industrial manufacturing systems.</a:t>
            </a:r>
          </a:p>
          <a:p>
            <a:endParaRPr lang="en-US" sz="2000" dirty="0"/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073B6A-703D-4FC5-A0F8-7F0D27FA7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A5-9B2D-42E2-A09F-AFAF775BA73B}" type="datetime1">
              <a:rPr lang="en-IN" smtClean="0"/>
              <a:t>14-03-2026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0A6903-A07E-4401-8341-BFC3131F4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3576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661D2-053F-FAF0-18B4-10D41DE2F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7565"/>
            <a:ext cx="10515600" cy="1034705"/>
          </a:xfrm>
        </p:spPr>
        <p:txBody>
          <a:bodyPr/>
          <a:lstStyle/>
          <a:p>
            <a:r>
              <a:rPr lang="en-US" dirty="0"/>
              <a:t>Results and discussion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837405-8C73-5897-6FBF-A274D5B60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A5-9B2D-42E2-A09F-AFAF775BA73B}" type="datetime1">
              <a:rPr lang="en-IN" smtClean="0"/>
              <a:t>14-03-2026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5BC725-193F-AD09-2D03-B7F6BAC74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9</a:t>
            </a:fld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8533B59-C602-4729-86E0-7B1FD96473E3}"/>
              </a:ext>
            </a:extLst>
          </p:cNvPr>
          <p:cNvSpPr/>
          <p:nvPr/>
        </p:nvSpPr>
        <p:spPr>
          <a:xfrm>
            <a:off x="636104" y="1302026"/>
            <a:ext cx="5337313" cy="483041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Current Progress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The following tasks have been completed: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• Literature survey on predictive maintenance techniques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• Identification of suitable sensors and embedded hardware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• Initial system architecture design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• Study of publicly available vibration datasets</a:t>
            </a:r>
            <a:endParaRPr lang="en-IN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CB2D268-6B3D-4587-88A1-EB354A27B509}"/>
              </a:ext>
            </a:extLst>
          </p:cNvPr>
          <p:cNvSpPr/>
          <p:nvPr/>
        </p:nvSpPr>
        <p:spPr>
          <a:xfrm>
            <a:off x="6218585" y="1302026"/>
            <a:ext cx="5337313" cy="483041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Expected Results</a:t>
            </a:r>
          </a:p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proposed system is expected to:</a:t>
            </a:r>
          </a:p>
          <a:p>
            <a:pPr algn="ctr"/>
            <a:endParaRPr lang="en-US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Accurately classify motor faults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Provide early warning of equipment failure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Enable real-time edge monitoring</a:t>
            </a:r>
          </a:p>
          <a:p>
            <a:pPr algn="ctr"/>
            <a:endParaRPr lang="en-US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Performance will be evaluated using:</a:t>
            </a:r>
          </a:p>
          <a:p>
            <a:pPr algn="ctr"/>
            <a:endParaRPr lang="en-US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Accuracy, Precision,</a:t>
            </a:r>
          </a:p>
          <a:p>
            <a:pPr algn="ctr"/>
            <a:endParaRPr lang="en-US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Recall, Confusion matrix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92791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B4D5C-540D-096A-9241-65AF1DDB0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828CE-EF33-D822-25C4-09275BC925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4403"/>
            <a:ext cx="10515600" cy="460375"/>
          </a:xfrm>
        </p:spPr>
        <p:txBody>
          <a:bodyPr>
            <a:normAutofit/>
          </a:bodyPr>
          <a:lstStyle/>
          <a:p>
            <a:r>
              <a:rPr lang="en-US" sz="2000" dirty="0"/>
              <a:t>This project proposes a low-cost Edge AI solution for predictive maintenance of industrial motors.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5FCB81-CBA8-749F-F4DB-379D1DEDB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A5-9B2D-42E2-A09F-AFAF775BA73B}" type="datetime1">
              <a:rPr lang="en-IN" smtClean="0"/>
              <a:t>14-03-2026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1311C8-58F0-0433-44E2-3D66F212F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10</a:t>
            </a:fld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29EF6D9-06D4-463E-AC1E-C384FEFCE856}"/>
              </a:ext>
            </a:extLst>
          </p:cNvPr>
          <p:cNvSpPr/>
          <p:nvPr/>
        </p:nvSpPr>
        <p:spPr>
          <a:xfrm>
            <a:off x="1023730" y="2226365"/>
            <a:ext cx="4939748" cy="412998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Key contributions:</a:t>
            </a:r>
          </a:p>
          <a:p>
            <a:pPr algn="ctr"/>
            <a:endParaRPr lang="en-US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Sensor-based motor monitoring system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Machine learning model for fault detection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Embedded edge deployment for real-time inference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The system can help industries reduce downtime and improve operational efficiency.</a:t>
            </a:r>
            <a:endParaRPr lang="en-IN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86321A9-F044-420B-86B8-D4954BA3F897}"/>
              </a:ext>
            </a:extLst>
          </p:cNvPr>
          <p:cNvSpPr/>
          <p:nvPr/>
        </p:nvSpPr>
        <p:spPr>
          <a:xfrm>
            <a:off x="6228522" y="2226364"/>
            <a:ext cx="4939748" cy="412998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Future work includes:</a:t>
            </a:r>
          </a:p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Multi-sensor fusion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Cloud dashboard integration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Testing with real industrial equipment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3335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69C45-C153-EEEE-4B34-25D029069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209" y="136526"/>
            <a:ext cx="10363200" cy="946358"/>
          </a:xfrm>
        </p:spPr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62AB0-996D-1567-36E2-F27B9DFFC6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62270"/>
            <a:ext cx="10949609" cy="4914693"/>
          </a:xfrm>
        </p:spPr>
        <p:txBody>
          <a:bodyPr numCol="2">
            <a:normAutofit fontScale="70000" lnSpcReduction="2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600" dirty="0" err="1"/>
              <a:t>Achouch</a:t>
            </a:r>
            <a:r>
              <a:rPr lang="en-US" sz="1600" dirty="0"/>
              <a:t>, M., Dimitrova, M., </a:t>
            </a:r>
            <a:r>
              <a:rPr lang="en-US" sz="1600" dirty="0" err="1"/>
              <a:t>Ziane</a:t>
            </a:r>
            <a:r>
              <a:rPr lang="en-US" sz="1600" dirty="0"/>
              <a:t>, K., </a:t>
            </a:r>
            <a:r>
              <a:rPr lang="en-US" sz="1600" dirty="0" err="1"/>
              <a:t>Sattarpanah</a:t>
            </a:r>
            <a:r>
              <a:rPr lang="en-US" sz="1600" dirty="0"/>
              <a:t> </a:t>
            </a:r>
            <a:r>
              <a:rPr lang="en-US" sz="1600" dirty="0" err="1"/>
              <a:t>Karganroudi</a:t>
            </a:r>
            <a:r>
              <a:rPr lang="en-US" sz="1600" dirty="0"/>
              <a:t>, S., </a:t>
            </a:r>
            <a:r>
              <a:rPr lang="en-US" sz="1600" dirty="0" err="1"/>
              <a:t>Dhouib</a:t>
            </a:r>
            <a:r>
              <a:rPr lang="en-US" sz="1600" dirty="0"/>
              <a:t>, R., Ibrahim, H., &amp; </a:t>
            </a:r>
            <a:r>
              <a:rPr lang="en-US" sz="1600" dirty="0" err="1"/>
              <a:t>Adda</a:t>
            </a:r>
            <a:r>
              <a:rPr lang="en-US" sz="1600" dirty="0"/>
              <a:t>, M. (2022). On Predictive Maintenance in Industry 4.0: Overview, Models, and Challenges. In Applied Sciences (Switzerland) (Vol. 12, Issue 16). MDPI. https://doi.org/10.3390/app12168081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Aires, F. L., </a:t>
            </a:r>
            <a:r>
              <a:rPr lang="en-US" sz="1600" dirty="0" err="1"/>
              <a:t>Galeno</a:t>
            </a:r>
            <a:r>
              <a:rPr lang="en-US" sz="1600" dirty="0"/>
              <a:t>, G. D., </a:t>
            </a:r>
            <a:r>
              <a:rPr lang="en-US" sz="1600" dirty="0" err="1"/>
              <a:t>Belchior</a:t>
            </a:r>
            <a:r>
              <a:rPr lang="en-US" sz="1600" dirty="0"/>
              <a:t>, F. N., Oliveira, A. M., &amp; Hunt, J. D. (2025). Enhancing three-phase induction motor reliability with health index and artificial intelligence-driven predictive maintenance. Royal Society Open Science, 12(5). https://doi.org/10.1098/rsos.241946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 err="1"/>
              <a:t>Artiushenko</a:t>
            </a:r>
            <a:r>
              <a:rPr lang="en-US" sz="1600" dirty="0"/>
              <a:t>, V., Lang, S., </a:t>
            </a:r>
            <a:r>
              <a:rPr lang="en-US" sz="1600" dirty="0" err="1"/>
              <a:t>Lerez</a:t>
            </a:r>
            <a:r>
              <a:rPr lang="en-US" sz="1600" dirty="0"/>
              <a:t>, C., </a:t>
            </a:r>
            <a:r>
              <a:rPr lang="en-US" sz="1600" dirty="0" err="1"/>
              <a:t>Reggelin</a:t>
            </a:r>
            <a:r>
              <a:rPr lang="en-US" sz="1600" dirty="0"/>
              <a:t>, T., &amp; </a:t>
            </a:r>
            <a:r>
              <a:rPr lang="en-US" sz="1600" dirty="0" err="1"/>
              <a:t>Hackert-Oschätzchen</a:t>
            </a:r>
            <a:r>
              <a:rPr lang="en-US" sz="1600" dirty="0"/>
              <a:t>, M. (2024). Resource-efficient Edge AI solution for predictive maintenance. Procedia Computer Science, 232, 348–357. https://doi.org/10.1016/j.procs.2024.01.034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Bharathi, Y. H. (n.d.). International Journal of INTELLIGENT SYSTEMS AND APPLICATIONS IN ENGINEERING Edge AI for Real-Time Motor Condition Monitoring in Smart Grids. In Original Research Paper International Journal of Intelligent Systems and Applications in Engineering IJISAE (Vol. 2024, Issue 23s). Retrieved www.ijisae.org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Dey, S., &amp; </a:t>
            </a:r>
            <a:r>
              <a:rPr lang="en-US" sz="1600" dirty="0" err="1"/>
              <a:t>Nagavalli</a:t>
            </a:r>
            <a:r>
              <a:rPr lang="en-US" sz="1600" dirty="0"/>
              <a:t>, S. P. (2022). AI-Based Predictive Maintenance in Edge IoT Devices: A Proactive Approach to Latency Reduction. International Journal of Emerging Trends in Computer Science and Information Technology, 3(1), 55–64. https://doi.org/10.63282/3050-9246.ijetcsit-v3i1p107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 err="1"/>
              <a:t>Drakaki</a:t>
            </a:r>
            <a:r>
              <a:rPr lang="en-US" sz="1600" dirty="0"/>
              <a:t>, M., </a:t>
            </a:r>
            <a:r>
              <a:rPr lang="en-US" sz="1600" dirty="0" err="1"/>
              <a:t>Karnavas</a:t>
            </a:r>
            <a:r>
              <a:rPr lang="en-US" sz="1600" dirty="0"/>
              <a:t>, Y. L., </a:t>
            </a:r>
            <a:r>
              <a:rPr lang="en-US" sz="1600" dirty="0" err="1"/>
              <a:t>Tzionas</a:t>
            </a:r>
            <a:r>
              <a:rPr lang="en-US" sz="1600" dirty="0"/>
              <a:t>, P., &amp; </a:t>
            </a:r>
            <a:r>
              <a:rPr lang="en-US" sz="1600" dirty="0" err="1"/>
              <a:t>Chasiotis</a:t>
            </a:r>
            <a:r>
              <a:rPr lang="en-US" sz="1600" dirty="0"/>
              <a:t>, I. D. (2021). Recent Developments towards Industry 4.0 Oriented Predictive Maintenance in Induction Motors. Procedia Computer Science, 180, 943–949. https://doi.org/10.1016/j.procs.2021.01.345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Hafeez, T., Xu, L., &amp; McArdle, G. (2021). Edge intelligence for data handling and predictive maintenance in </a:t>
            </a:r>
            <a:r>
              <a:rPr lang="en-US" sz="1600" dirty="0" err="1"/>
              <a:t>IIoT</a:t>
            </a:r>
            <a:r>
              <a:rPr lang="en-US" sz="1600" dirty="0"/>
              <a:t>. IEEE Access, 9, 49355–49371. https://doi.org/10.1109/ACCESS.2021.3069137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 err="1"/>
              <a:t>Lamdjad</a:t>
            </a:r>
            <a:r>
              <a:rPr lang="en-US" sz="1600" dirty="0"/>
              <a:t>, B., &amp; </a:t>
            </a:r>
            <a:r>
              <a:rPr lang="en-US" sz="1600" dirty="0" err="1"/>
              <a:t>Chaiter</a:t>
            </a:r>
            <a:r>
              <a:rPr lang="en-US" sz="1600" dirty="0"/>
              <a:t>, A. (2026). AI-Powered Predictive Maintenance and Prognostic Health Management Using Edge-Based Predictive Algorithms for Industrial Operations. https://doi.org/10.20944/preprints202603.0010.v1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Lazzaro, A., </a:t>
            </a:r>
            <a:r>
              <a:rPr lang="en-US" sz="1600" dirty="0" err="1"/>
              <a:t>D’Addona</a:t>
            </a:r>
            <a:r>
              <a:rPr lang="en-US" sz="1600" dirty="0"/>
              <a:t>, D. M., &amp; Merenda, M. (2024). A Detailed Study on Algorithms for Predictive Maintenance in Smart Manufacturing: Chip Form Classification Using Edge Machine Learning. IEEE Open Journal of the Industrial Electronics Society, 5, 1190–1205. https://doi.org/10.1109/OJIES.2024.3484006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Nunes, P., Santos, J., &amp; Rocha, E. (2023). Challenges in predictive maintenance – A review. In CIRP Journal of Manufacturing Science and Technology (Vol. 40, pp. 53–67). Elsevier Ltd. https://doi.org/10.1016/j.cirpj.2022.11.004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 err="1"/>
              <a:t>Soni</a:t>
            </a:r>
            <a:r>
              <a:rPr lang="en-US" sz="1600" dirty="0"/>
              <a:t>, K., &amp; Agrawal, M. (2025). AI Driven Predictive Maintenance at the Edge.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 err="1"/>
              <a:t>Vermesan</a:t>
            </a:r>
            <a:r>
              <a:rPr lang="en-US" sz="1600" dirty="0"/>
              <a:t>, O., &amp; Coppola, M. (2023). Embedded Edge Intelligent Processing for End-To-End Predictive Maintenance in Industrial Applications. In Industrial Artificial Intelligence Technologies and Applications (pp. 157–175). River Publishers. https://doi.org/10.1201/9781003377382-12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Zhou, Z., </a:t>
            </a:r>
            <a:r>
              <a:rPr lang="en-US" sz="1600" dirty="0" err="1"/>
              <a:t>Qiao</a:t>
            </a:r>
            <a:r>
              <a:rPr lang="en-US" sz="1600" dirty="0"/>
              <a:t>, Y., Lin, X., Li, P., Wu, N., &amp; Yu, D. (2025). A Deployment Method for Motor Fault Diagnosis Application Based on Edge Intelligence. Sensors, 25(1). https://doi.org/10.3390/s25010009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2EB66-6C3B-0BC0-2D20-987EC3280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A5-9B2D-42E2-A09F-AFAF775BA73B}" type="datetime1">
              <a:rPr lang="en-IN" smtClean="0"/>
              <a:t>14-03-2026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FFFBBA-6CED-E927-5EED-B5B1722C8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0380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54A9C-93AE-B5F3-F1A4-B23DCB289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5400" dirty="0"/>
              <a:t>Thank you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344B8-A1D8-CD59-8F23-27063C556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A5-9B2D-42E2-A09F-AFAF775BA73B}" type="datetime1">
              <a:rPr lang="en-IN" smtClean="0"/>
              <a:t>13-03-2026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7C0E03-881C-0985-CD32-CC21B0D86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8152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1135</TotalTime>
  <Words>1483</Words>
  <Application>Microsoft Office PowerPoint</Application>
  <PresentationFormat>Widescreen</PresentationFormat>
  <Paragraphs>223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Table of Contents:</vt:lpstr>
      <vt:lpstr>Introduction</vt:lpstr>
      <vt:lpstr>Objective of the Project</vt:lpstr>
      <vt:lpstr>Proposed Model</vt:lpstr>
      <vt:lpstr>Methodology</vt:lpstr>
      <vt:lpstr>Timeline of the project</vt:lpstr>
      <vt:lpstr>Literature Survey</vt:lpstr>
      <vt:lpstr>Results and discussion</vt:lpstr>
      <vt:lpstr>Conclusion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Praveen Pawar</dc:creator>
  <cp:lastModifiedBy>kartik burele</cp:lastModifiedBy>
  <cp:revision>23</cp:revision>
  <dcterms:created xsi:type="dcterms:W3CDTF">2025-05-09T09:30:28Z</dcterms:created>
  <dcterms:modified xsi:type="dcterms:W3CDTF">2026-03-14T11:05:43Z</dcterms:modified>
</cp:coreProperties>
</file>